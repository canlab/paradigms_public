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79" r:id="rId4"/>
    <p:sldId id="259" r:id="rId5"/>
    <p:sldId id="272" r:id="rId6"/>
    <p:sldId id="273" r:id="rId7"/>
    <p:sldId id="274" r:id="rId8"/>
    <p:sldId id="275" r:id="rId9"/>
    <p:sldId id="276" r:id="rId10"/>
    <p:sldId id="277" r:id="rId11"/>
    <p:sldId id="278" r:id="rId12"/>
    <p:sldId id="270" r:id="rId13"/>
    <p:sldId id="261" r:id="rId14"/>
    <p:sldId id="266" r:id="rId15"/>
    <p:sldId id="271" r:id="rId16"/>
    <p:sldId id="263" r:id="rId17"/>
    <p:sldId id="264" r:id="rId18"/>
    <p:sldId id="265" r:id="rId19"/>
    <p:sldId id="267" r:id="rId20"/>
    <p:sldId id="268" r:id="rId21"/>
    <p:sldId id="269"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03">
          <p15:clr>
            <a:srgbClr val="A4A3A4"/>
          </p15:clr>
        </p15:guide>
        <p15:guide id="2" pos="55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03"/>
    <p:restoredTop sz="99850" autoAdjust="0"/>
  </p:normalViewPr>
  <p:slideViewPr>
    <p:cSldViewPr snapToGrid="0" snapToObjects="1" showGuides="1">
      <p:cViewPr varScale="1">
        <p:scale>
          <a:sx n="133" d="100"/>
          <a:sy n="133" d="100"/>
        </p:scale>
        <p:origin x="1288" y="200"/>
      </p:cViewPr>
      <p:guideLst>
        <p:guide orient="horz" pos="2403"/>
        <p:guide pos="5567"/>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C71757-55F8-6E45-A133-CB57FF2801E7}" type="datetimeFigureOut">
              <a:rPr lang="en-US" smtClean="0"/>
              <a:t>6/1/18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73FB38A-F91D-6741-8CB3-709BED6F8C91}" type="slidenum">
              <a:rPr lang="en-US" smtClean="0"/>
              <a:t>‹#›</a:t>
            </a:fld>
            <a:endParaRPr lang="en-US"/>
          </a:p>
        </p:txBody>
      </p:sp>
    </p:spTree>
    <p:extLst>
      <p:ext uri="{BB962C8B-B14F-4D97-AF65-F5344CB8AC3E}">
        <p14:creationId xmlns:p14="http://schemas.microsoft.com/office/powerpoint/2010/main" val="84262690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 </a:t>
            </a:r>
            <a:r>
              <a:rPr lang="en-US" dirty="0" err="1"/>
              <a:t>pos</a:t>
            </a:r>
            <a:r>
              <a:rPr lang="en-US" dirty="0"/>
              <a:t> &amp; </a:t>
            </a:r>
            <a:r>
              <a:rPr lang="en-US" dirty="0" err="1"/>
              <a:t>neg</a:t>
            </a:r>
            <a:r>
              <a:rPr lang="en-US" dirty="0"/>
              <a:t> mood</a:t>
            </a:r>
            <a:r>
              <a:rPr lang="en-US" baseline="0" dirty="0"/>
              <a:t> in same graph (2 axes)</a:t>
            </a:r>
            <a:endParaRPr lang="en-US" dirty="0"/>
          </a:p>
        </p:txBody>
      </p:sp>
      <p:sp>
        <p:nvSpPr>
          <p:cNvPr id="4" name="Slide Number Placeholder 3"/>
          <p:cNvSpPr>
            <a:spLocks noGrp="1"/>
          </p:cNvSpPr>
          <p:nvPr>
            <p:ph type="sldNum" sz="quarter" idx="10"/>
          </p:nvPr>
        </p:nvSpPr>
        <p:spPr/>
        <p:txBody>
          <a:bodyPr/>
          <a:lstStyle/>
          <a:p>
            <a:fld id="{D69E8918-21A7-6949-A05D-8F1AB582ADDC}" type="slidenum">
              <a:rPr lang="en-US" smtClean="0"/>
              <a:t>6</a:t>
            </a:fld>
            <a:endParaRPr lang="en-US"/>
          </a:p>
        </p:txBody>
      </p:sp>
    </p:spTree>
    <p:extLst>
      <p:ext uri="{BB962C8B-B14F-4D97-AF65-F5344CB8AC3E}">
        <p14:creationId xmlns:p14="http://schemas.microsoft.com/office/powerpoint/2010/main" val="18126497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Affective</a:t>
            </a:r>
            <a:r>
              <a:rPr lang="en-US" baseline="0" dirty="0"/>
              <a:t> norms for </a:t>
            </a:r>
            <a:r>
              <a:rPr lang="en-US" baseline="0" dirty="0" err="1"/>
              <a:t>english</a:t>
            </a:r>
            <a:r>
              <a:rPr lang="en-US" baseline="0" dirty="0"/>
              <a:t> words</a:t>
            </a:r>
          </a:p>
          <a:p>
            <a:endParaRPr lang="en-US" baseline="0" dirty="0"/>
          </a:p>
          <a:p>
            <a:r>
              <a:rPr lang="en-US" b="1" baseline="0" dirty="0"/>
              <a:t>Sad, mother</a:t>
            </a:r>
            <a:endParaRPr lang="en-US" b="1" dirty="0"/>
          </a:p>
        </p:txBody>
      </p:sp>
      <p:sp>
        <p:nvSpPr>
          <p:cNvPr id="4" name="Slide Number Placeholder 3"/>
          <p:cNvSpPr>
            <a:spLocks noGrp="1"/>
          </p:cNvSpPr>
          <p:nvPr>
            <p:ph type="sldNum" sz="quarter" idx="10"/>
          </p:nvPr>
        </p:nvSpPr>
        <p:spPr/>
        <p:txBody>
          <a:bodyPr/>
          <a:lstStyle/>
          <a:p>
            <a:fld id="{D69E8918-21A7-6949-A05D-8F1AB582ADDC}" type="slidenum">
              <a:rPr lang="en-US" smtClean="0"/>
              <a:t>7</a:t>
            </a:fld>
            <a:endParaRPr lang="en-US"/>
          </a:p>
        </p:txBody>
      </p:sp>
    </p:spTree>
    <p:extLst>
      <p:ext uri="{BB962C8B-B14F-4D97-AF65-F5344CB8AC3E}">
        <p14:creationId xmlns:p14="http://schemas.microsoft.com/office/powerpoint/2010/main" val="1654005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 </a:t>
            </a:r>
            <a:r>
              <a:rPr lang="en-US" dirty="0" err="1"/>
              <a:t>pos</a:t>
            </a:r>
            <a:r>
              <a:rPr lang="en-US" dirty="0"/>
              <a:t> &amp; </a:t>
            </a:r>
            <a:r>
              <a:rPr lang="en-US" dirty="0" err="1"/>
              <a:t>neg</a:t>
            </a:r>
            <a:r>
              <a:rPr lang="en-US" dirty="0"/>
              <a:t> mood</a:t>
            </a:r>
            <a:r>
              <a:rPr lang="en-US" baseline="0" dirty="0"/>
              <a:t> in same graph (2 axes)</a:t>
            </a:r>
            <a:endParaRPr lang="en-US" dirty="0"/>
          </a:p>
        </p:txBody>
      </p:sp>
      <p:sp>
        <p:nvSpPr>
          <p:cNvPr id="4" name="Slide Number Placeholder 3"/>
          <p:cNvSpPr>
            <a:spLocks noGrp="1"/>
          </p:cNvSpPr>
          <p:nvPr>
            <p:ph type="sldNum" sz="quarter" idx="10"/>
          </p:nvPr>
        </p:nvSpPr>
        <p:spPr/>
        <p:txBody>
          <a:bodyPr/>
          <a:lstStyle/>
          <a:p>
            <a:fld id="{D69E8918-21A7-6949-A05D-8F1AB582ADDC}" type="slidenum">
              <a:rPr lang="en-US" smtClean="0"/>
              <a:t>9</a:t>
            </a:fld>
            <a:endParaRPr lang="en-US"/>
          </a:p>
        </p:txBody>
      </p:sp>
    </p:spTree>
    <p:extLst>
      <p:ext uri="{BB962C8B-B14F-4D97-AF65-F5344CB8AC3E}">
        <p14:creationId xmlns:p14="http://schemas.microsoft.com/office/powerpoint/2010/main" val="18126497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69E8918-21A7-6949-A05D-8F1AB582ADDC}" type="slidenum">
              <a:rPr lang="en-US" smtClean="0"/>
              <a:t>10</a:t>
            </a:fld>
            <a:endParaRPr lang="en-US"/>
          </a:p>
        </p:txBody>
      </p:sp>
    </p:spTree>
    <p:extLst>
      <p:ext uri="{BB962C8B-B14F-4D97-AF65-F5344CB8AC3E}">
        <p14:creationId xmlns:p14="http://schemas.microsoft.com/office/powerpoint/2010/main" val="16110834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D69E8918-21A7-6949-A05D-8F1AB582ADDC}" type="slidenum">
              <a:rPr lang="en-US" smtClean="0"/>
              <a:t>11</a:t>
            </a:fld>
            <a:endParaRPr lang="en-US"/>
          </a:p>
        </p:txBody>
      </p:sp>
    </p:spTree>
    <p:extLst>
      <p:ext uri="{BB962C8B-B14F-4D97-AF65-F5344CB8AC3E}">
        <p14:creationId xmlns:p14="http://schemas.microsoft.com/office/powerpoint/2010/main" val="16110834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72EEB05-E808-624C-BC32-BFE7A4345599}" type="datetimeFigureOut">
              <a:rPr lang="en-US" smtClean="0"/>
              <a:t>6/1/18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4DDC85-7C8A-0249-843F-CBCA869E557C}" type="slidenum">
              <a:rPr lang="en-US" smtClean="0"/>
              <a:t>‹#›</a:t>
            </a:fld>
            <a:endParaRPr lang="en-US"/>
          </a:p>
        </p:txBody>
      </p:sp>
    </p:spTree>
    <p:extLst>
      <p:ext uri="{BB962C8B-B14F-4D97-AF65-F5344CB8AC3E}">
        <p14:creationId xmlns:p14="http://schemas.microsoft.com/office/powerpoint/2010/main" val="2397931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2EEB05-E808-624C-BC32-BFE7A4345599}" type="datetimeFigureOut">
              <a:rPr lang="en-US" smtClean="0"/>
              <a:t>6/1/18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4DDC85-7C8A-0249-843F-CBCA869E557C}" type="slidenum">
              <a:rPr lang="en-US" smtClean="0"/>
              <a:t>‹#›</a:t>
            </a:fld>
            <a:endParaRPr lang="en-US"/>
          </a:p>
        </p:txBody>
      </p:sp>
    </p:spTree>
    <p:extLst>
      <p:ext uri="{BB962C8B-B14F-4D97-AF65-F5344CB8AC3E}">
        <p14:creationId xmlns:p14="http://schemas.microsoft.com/office/powerpoint/2010/main" val="4272424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2EEB05-E808-624C-BC32-BFE7A4345599}" type="datetimeFigureOut">
              <a:rPr lang="en-US" smtClean="0"/>
              <a:t>6/1/18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4DDC85-7C8A-0249-843F-CBCA869E557C}" type="slidenum">
              <a:rPr lang="en-US" smtClean="0"/>
              <a:t>‹#›</a:t>
            </a:fld>
            <a:endParaRPr lang="en-US"/>
          </a:p>
        </p:txBody>
      </p:sp>
    </p:spTree>
    <p:extLst>
      <p:ext uri="{BB962C8B-B14F-4D97-AF65-F5344CB8AC3E}">
        <p14:creationId xmlns:p14="http://schemas.microsoft.com/office/powerpoint/2010/main" val="2913209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72EEB05-E808-624C-BC32-BFE7A4345599}" type="datetimeFigureOut">
              <a:rPr lang="en-US" smtClean="0"/>
              <a:t>6/1/18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4DDC85-7C8A-0249-843F-CBCA869E557C}" type="slidenum">
              <a:rPr lang="en-US" smtClean="0"/>
              <a:t>‹#›</a:t>
            </a:fld>
            <a:endParaRPr lang="en-US"/>
          </a:p>
        </p:txBody>
      </p:sp>
    </p:spTree>
    <p:extLst>
      <p:ext uri="{BB962C8B-B14F-4D97-AF65-F5344CB8AC3E}">
        <p14:creationId xmlns:p14="http://schemas.microsoft.com/office/powerpoint/2010/main" val="431000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72EEB05-E808-624C-BC32-BFE7A4345599}" type="datetimeFigureOut">
              <a:rPr lang="en-US" smtClean="0"/>
              <a:t>6/1/18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4DDC85-7C8A-0249-843F-CBCA869E557C}" type="slidenum">
              <a:rPr lang="en-US" smtClean="0"/>
              <a:t>‹#›</a:t>
            </a:fld>
            <a:endParaRPr lang="en-US"/>
          </a:p>
        </p:txBody>
      </p:sp>
    </p:spTree>
    <p:extLst>
      <p:ext uri="{BB962C8B-B14F-4D97-AF65-F5344CB8AC3E}">
        <p14:creationId xmlns:p14="http://schemas.microsoft.com/office/powerpoint/2010/main" val="3378803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72EEB05-E808-624C-BC32-BFE7A4345599}" type="datetimeFigureOut">
              <a:rPr lang="en-US" smtClean="0"/>
              <a:t>6/1/18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4DDC85-7C8A-0249-843F-CBCA869E557C}" type="slidenum">
              <a:rPr lang="en-US" smtClean="0"/>
              <a:t>‹#›</a:t>
            </a:fld>
            <a:endParaRPr lang="en-US"/>
          </a:p>
        </p:txBody>
      </p:sp>
    </p:spTree>
    <p:extLst>
      <p:ext uri="{BB962C8B-B14F-4D97-AF65-F5344CB8AC3E}">
        <p14:creationId xmlns:p14="http://schemas.microsoft.com/office/powerpoint/2010/main" val="2736329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2EEB05-E808-624C-BC32-BFE7A4345599}" type="datetimeFigureOut">
              <a:rPr lang="en-US" smtClean="0"/>
              <a:t>6/1/18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4DDC85-7C8A-0249-843F-CBCA869E557C}" type="slidenum">
              <a:rPr lang="en-US" smtClean="0"/>
              <a:t>‹#›</a:t>
            </a:fld>
            <a:endParaRPr lang="en-US"/>
          </a:p>
        </p:txBody>
      </p:sp>
    </p:spTree>
    <p:extLst>
      <p:ext uri="{BB962C8B-B14F-4D97-AF65-F5344CB8AC3E}">
        <p14:creationId xmlns:p14="http://schemas.microsoft.com/office/powerpoint/2010/main" val="3593175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2EEB05-E808-624C-BC32-BFE7A4345599}" type="datetimeFigureOut">
              <a:rPr lang="en-US" smtClean="0"/>
              <a:t>6/1/18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4DDC85-7C8A-0249-843F-CBCA869E557C}" type="slidenum">
              <a:rPr lang="en-US" smtClean="0"/>
              <a:t>‹#›</a:t>
            </a:fld>
            <a:endParaRPr lang="en-US"/>
          </a:p>
        </p:txBody>
      </p:sp>
    </p:spTree>
    <p:extLst>
      <p:ext uri="{BB962C8B-B14F-4D97-AF65-F5344CB8AC3E}">
        <p14:creationId xmlns:p14="http://schemas.microsoft.com/office/powerpoint/2010/main" val="1637970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2EEB05-E808-624C-BC32-BFE7A4345599}" type="datetimeFigureOut">
              <a:rPr lang="en-US" smtClean="0"/>
              <a:t>6/1/18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4DDC85-7C8A-0249-843F-CBCA869E557C}" type="slidenum">
              <a:rPr lang="en-US" smtClean="0"/>
              <a:t>‹#›</a:t>
            </a:fld>
            <a:endParaRPr lang="en-US"/>
          </a:p>
        </p:txBody>
      </p:sp>
    </p:spTree>
    <p:extLst>
      <p:ext uri="{BB962C8B-B14F-4D97-AF65-F5344CB8AC3E}">
        <p14:creationId xmlns:p14="http://schemas.microsoft.com/office/powerpoint/2010/main" val="35672179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2EEB05-E808-624C-BC32-BFE7A4345599}" type="datetimeFigureOut">
              <a:rPr lang="en-US" smtClean="0"/>
              <a:t>6/1/18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4DDC85-7C8A-0249-843F-CBCA869E557C}" type="slidenum">
              <a:rPr lang="en-US" smtClean="0"/>
              <a:t>‹#›</a:t>
            </a:fld>
            <a:endParaRPr lang="en-US"/>
          </a:p>
        </p:txBody>
      </p:sp>
    </p:spTree>
    <p:extLst>
      <p:ext uri="{BB962C8B-B14F-4D97-AF65-F5344CB8AC3E}">
        <p14:creationId xmlns:p14="http://schemas.microsoft.com/office/powerpoint/2010/main" val="2655732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72EEB05-E808-624C-BC32-BFE7A4345599}" type="datetimeFigureOut">
              <a:rPr lang="en-US" smtClean="0"/>
              <a:t>6/1/18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4DDC85-7C8A-0249-843F-CBCA869E557C}" type="slidenum">
              <a:rPr lang="en-US" smtClean="0"/>
              <a:t>‹#›</a:t>
            </a:fld>
            <a:endParaRPr lang="en-US"/>
          </a:p>
        </p:txBody>
      </p:sp>
    </p:spTree>
    <p:extLst>
      <p:ext uri="{BB962C8B-B14F-4D97-AF65-F5344CB8AC3E}">
        <p14:creationId xmlns:p14="http://schemas.microsoft.com/office/powerpoint/2010/main" val="1582232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2EEB05-E808-624C-BC32-BFE7A4345599}" type="datetimeFigureOut">
              <a:rPr lang="en-US" smtClean="0"/>
              <a:t>6/1/18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4DDC85-7C8A-0249-843F-CBCA869E557C}" type="slidenum">
              <a:rPr lang="en-US" smtClean="0"/>
              <a:t>‹#›</a:t>
            </a:fld>
            <a:endParaRPr lang="en-US"/>
          </a:p>
        </p:txBody>
      </p:sp>
    </p:spTree>
    <p:extLst>
      <p:ext uri="{BB962C8B-B14F-4D97-AF65-F5344CB8AC3E}">
        <p14:creationId xmlns:p14="http://schemas.microsoft.com/office/powerpoint/2010/main" val="15606702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g"/><Relationship Id="rId1" Type="http://schemas.openxmlformats.org/officeDocument/2006/relationships/slideLayout" Target="../slideLayouts/slideLayout2.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BMRK5</a:t>
            </a:r>
            <a:br>
              <a:rPr lang="en-US" dirty="0"/>
            </a:br>
            <a:r>
              <a:rPr lang="en-US" dirty="0"/>
              <a:t>study description</a:t>
            </a:r>
          </a:p>
        </p:txBody>
      </p:sp>
      <p:sp>
        <p:nvSpPr>
          <p:cNvPr id="3" name="Subtitle 2"/>
          <p:cNvSpPr>
            <a:spLocks noGrp="1"/>
          </p:cNvSpPr>
          <p:nvPr>
            <p:ph type="subTitle" idx="1"/>
          </p:nvPr>
        </p:nvSpPr>
        <p:spPr/>
        <p:txBody>
          <a:bodyPr>
            <a:normAutofit fontScale="85000" lnSpcReduction="20000"/>
          </a:bodyPr>
          <a:lstStyle/>
          <a:p>
            <a:r>
              <a:rPr lang="en-US" dirty="0"/>
              <a:t>Jessica Andrews-Hanna</a:t>
            </a:r>
          </a:p>
          <a:p>
            <a:r>
              <a:rPr lang="en-US" dirty="0"/>
              <a:t>Hedwig </a:t>
            </a:r>
            <a:r>
              <a:rPr lang="en-US" dirty="0" err="1"/>
              <a:t>Eisenbarth</a:t>
            </a:r>
            <a:endParaRPr lang="en-US" dirty="0"/>
          </a:p>
          <a:p>
            <a:r>
              <a:rPr lang="en-US" dirty="0"/>
              <a:t>Elizabeth Reynolds-</a:t>
            </a:r>
            <a:r>
              <a:rPr lang="en-US" dirty="0" err="1"/>
              <a:t>Losin</a:t>
            </a:r>
            <a:endParaRPr lang="en-US" dirty="0"/>
          </a:p>
          <a:p>
            <a:r>
              <a:rPr lang="en-US" dirty="0"/>
              <a:t>Tor Wager</a:t>
            </a:r>
          </a:p>
          <a:p>
            <a:endParaRPr lang="en-US" dirty="0"/>
          </a:p>
        </p:txBody>
      </p:sp>
    </p:spTree>
    <p:extLst>
      <p:ext uri="{BB962C8B-B14F-4D97-AF65-F5344CB8AC3E}">
        <p14:creationId xmlns:p14="http://schemas.microsoft.com/office/powerpoint/2010/main" val="2904295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Study Overview</a:t>
            </a:r>
          </a:p>
        </p:txBody>
      </p:sp>
      <p:sp>
        <p:nvSpPr>
          <p:cNvPr id="3" name="Content Placeholder 2"/>
          <p:cNvSpPr>
            <a:spLocks noGrp="1"/>
          </p:cNvSpPr>
          <p:nvPr>
            <p:ph idx="1"/>
          </p:nvPr>
        </p:nvSpPr>
        <p:spPr/>
        <p:txBody>
          <a:bodyPr>
            <a:normAutofit fontScale="77500" lnSpcReduction="20000"/>
          </a:bodyPr>
          <a:lstStyle/>
          <a:p>
            <a:r>
              <a:rPr lang="en-US" dirty="0"/>
              <a:t>Pre-scanner tasks</a:t>
            </a:r>
          </a:p>
          <a:p>
            <a:pPr lvl="1"/>
            <a:r>
              <a:rPr lang="en-US" dirty="0"/>
              <a:t>Word fluency task (Jess)</a:t>
            </a:r>
          </a:p>
          <a:p>
            <a:pPr lvl="1"/>
            <a:r>
              <a:rPr lang="en-US" dirty="0"/>
              <a:t>Word association task (Jess)</a:t>
            </a:r>
          </a:p>
          <a:p>
            <a:pPr lvl="1"/>
            <a:r>
              <a:rPr lang="en-US" dirty="0"/>
              <a:t>Thoughts task (Jess)</a:t>
            </a:r>
          </a:p>
          <a:p>
            <a:pPr lvl="1"/>
            <a:r>
              <a:rPr lang="en-US" dirty="0"/>
              <a:t>training sessions for pain/sound task and n-back (Liz/Hedwig)</a:t>
            </a:r>
          </a:p>
          <a:p>
            <a:r>
              <a:rPr lang="en-US" dirty="0"/>
              <a:t>In-Scanner Tasks </a:t>
            </a:r>
          </a:p>
          <a:p>
            <a:pPr lvl="1"/>
            <a:r>
              <a:rPr lang="en-US" dirty="0"/>
              <a:t>resting state with thoughts questions afterwards (Jess)</a:t>
            </a:r>
          </a:p>
          <a:p>
            <a:pPr lvl="1"/>
            <a:r>
              <a:rPr lang="en-US" dirty="0"/>
              <a:t>Pain &amp; Sound Task (Liz)</a:t>
            </a:r>
          </a:p>
          <a:p>
            <a:pPr lvl="1"/>
            <a:r>
              <a:rPr lang="en-US" dirty="0"/>
              <a:t>Distraction + Emotional Movies Tasks (Hedwig)</a:t>
            </a:r>
          </a:p>
          <a:p>
            <a:r>
              <a:rPr lang="en-US" dirty="0"/>
              <a:t>Post-Scanner Tasks</a:t>
            </a:r>
          </a:p>
          <a:p>
            <a:pPr lvl="1"/>
            <a:r>
              <a:rPr lang="en-US" dirty="0"/>
              <a:t>rating of the emotional movie clips continuously (Hedwig)</a:t>
            </a:r>
          </a:p>
          <a:p>
            <a:pPr lvl="1"/>
            <a:r>
              <a:rPr lang="en-US" dirty="0"/>
              <a:t>Word judgment task (Jess)</a:t>
            </a:r>
          </a:p>
          <a:p>
            <a:pPr lvl="1"/>
            <a:endParaRPr lang="en-US" dirty="0"/>
          </a:p>
          <a:p>
            <a:endParaRPr lang="en-US" dirty="0"/>
          </a:p>
        </p:txBody>
      </p:sp>
    </p:spTree>
    <p:extLst>
      <p:ext uri="{BB962C8B-B14F-4D97-AF65-F5344CB8AC3E}">
        <p14:creationId xmlns:p14="http://schemas.microsoft.com/office/powerpoint/2010/main" val="21145159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Questionnaire measures</a:t>
            </a:r>
          </a:p>
        </p:txBody>
      </p:sp>
      <p:sp>
        <p:nvSpPr>
          <p:cNvPr id="3" name="Content Placeholder 2"/>
          <p:cNvSpPr>
            <a:spLocks noGrp="1"/>
          </p:cNvSpPr>
          <p:nvPr>
            <p:ph idx="1"/>
          </p:nvPr>
        </p:nvSpPr>
        <p:spPr/>
        <p:txBody>
          <a:bodyPr numCol="2">
            <a:normAutofit fontScale="70000" lnSpcReduction="20000"/>
          </a:bodyPr>
          <a:lstStyle/>
          <a:p>
            <a:r>
              <a:rPr lang="en-US" dirty="0"/>
              <a:t>ASSIST (drug use/abuse)</a:t>
            </a:r>
          </a:p>
          <a:p>
            <a:r>
              <a:rPr lang="en-US" dirty="0"/>
              <a:t>BDI (depression)</a:t>
            </a:r>
          </a:p>
          <a:p>
            <a:r>
              <a:rPr lang="en-US" dirty="0"/>
              <a:t>BFI (personality, five factors)</a:t>
            </a:r>
          </a:p>
          <a:p>
            <a:r>
              <a:rPr lang="en-US" dirty="0"/>
              <a:t>BHPQ (history of pain)</a:t>
            </a:r>
          </a:p>
          <a:p>
            <a:r>
              <a:rPr lang="en-US" dirty="0"/>
              <a:t>CSQ (coping strategies)</a:t>
            </a:r>
          </a:p>
          <a:p>
            <a:r>
              <a:rPr lang="en-US" dirty="0"/>
              <a:t>EOD (discrimination experience)</a:t>
            </a:r>
          </a:p>
          <a:p>
            <a:r>
              <a:rPr lang="en-US" dirty="0"/>
              <a:t>ERQ (emotion regulation)</a:t>
            </a:r>
          </a:p>
          <a:p>
            <a:r>
              <a:rPr lang="en-US" dirty="0"/>
              <a:t>FFMQ (mindfulness)</a:t>
            </a:r>
          </a:p>
          <a:p>
            <a:r>
              <a:rPr lang="en-US" dirty="0"/>
              <a:t>FOP (fear of pain)</a:t>
            </a:r>
          </a:p>
          <a:p>
            <a:r>
              <a:rPr lang="en-US" dirty="0"/>
              <a:t>Illness Beliefs</a:t>
            </a:r>
          </a:p>
          <a:p>
            <a:r>
              <a:rPr lang="en-US" dirty="0"/>
              <a:t>IPI (mind wandering)</a:t>
            </a:r>
          </a:p>
          <a:p>
            <a:r>
              <a:rPr lang="en-US" dirty="0"/>
              <a:t>KRS (reactivity)</a:t>
            </a:r>
          </a:p>
          <a:p>
            <a:r>
              <a:rPr lang="en-US" dirty="0"/>
              <a:t>LEC (life events)</a:t>
            </a:r>
          </a:p>
          <a:p>
            <a:r>
              <a:rPr lang="en-US" dirty="0"/>
              <a:t>MASQA (anxious arousal)</a:t>
            </a:r>
          </a:p>
          <a:p>
            <a:r>
              <a:rPr lang="en-US" dirty="0"/>
              <a:t>MEIM (ethnicity identity)</a:t>
            </a:r>
          </a:p>
          <a:p>
            <a:r>
              <a:rPr lang="en-US" dirty="0"/>
              <a:t>Pain Beliefs</a:t>
            </a:r>
          </a:p>
          <a:p>
            <a:r>
              <a:rPr lang="en-US" dirty="0"/>
              <a:t>PANAS (trait mood)</a:t>
            </a:r>
          </a:p>
          <a:p>
            <a:r>
              <a:rPr lang="en-US" dirty="0"/>
              <a:t>PCS (pain </a:t>
            </a:r>
            <a:r>
              <a:rPr lang="en-US" dirty="0" err="1"/>
              <a:t>cathastrophizing</a:t>
            </a:r>
            <a:r>
              <a:rPr lang="en-US" dirty="0"/>
              <a:t>)</a:t>
            </a:r>
          </a:p>
          <a:p>
            <a:r>
              <a:rPr lang="en-US" dirty="0"/>
              <a:t>PPI (psychopathy)</a:t>
            </a:r>
          </a:p>
          <a:p>
            <a:r>
              <a:rPr lang="en-US" dirty="0"/>
              <a:t>PSWQ (worry)</a:t>
            </a:r>
          </a:p>
          <a:p>
            <a:r>
              <a:rPr lang="en-US" dirty="0"/>
              <a:t>RRS (rumination)</a:t>
            </a:r>
          </a:p>
          <a:p>
            <a:r>
              <a:rPr lang="en-US" dirty="0"/>
              <a:t>STRAIN (loss life events)</a:t>
            </a:r>
          </a:p>
          <a:p>
            <a:r>
              <a:rPr lang="en-US"/>
              <a:t>WQ (worry)</a:t>
            </a:r>
          </a:p>
        </p:txBody>
      </p:sp>
    </p:spTree>
    <p:extLst>
      <p:ext uri="{BB962C8B-B14F-4D97-AF65-F5344CB8AC3E}">
        <p14:creationId xmlns:p14="http://schemas.microsoft.com/office/powerpoint/2010/main" val="3565516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description</a:t>
            </a:r>
          </a:p>
        </p:txBody>
      </p:sp>
      <p:sp>
        <p:nvSpPr>
          <p:cNvPr id="3" name="Content Placeholder 2"/>
          <p:cNvSpPr>
            <a:spLocks noGrp="1"/>
          </p:cNvSpPr>
          <p:nvPr>
            <p:ph idx="1"/>
          </p:nvPr>
        </p:nvSpPr>
        <p:spPr/>
        <p:txBody>
          <a:bodyPr>
            <a:normAutofit lnSpcReduction="10000"/>
          </a:bodyPr>
          <a:lstStyle/>
          <a:p>
            <a:r>
              <a:rPr lang="en-US" dirty="0"/>
              <a:t>General population sample, recruitment via:</a:t>
            </a:r>
          </a:p>
          <a:p>
            <a:pPr lvl="1"/>
            <a:r>
              <a:rPr lang="en-US" dirty="0"/>
              <a:t>Community Twin Sample and Family Sample from the IBG CU Boulder (</a:t>
            </a:r>
            <a:r>
              <a:rPr lang="en-US" i="1" dirty="0"/>
              <a:t>n</a:t>
            </a:r>
            <a:r>
              <a:rPr lang="en-US" dirty="0"/>
              <a:t>=44)</a:t>
            </a:r>
          </a:p>
          <a:p>
            <a:pPr lvl="1"/>
            <a:r>
              <a:rPr lang="en-US" dirty="0"/>
              <a:t>flyer and craigslist in the Denver metro area (</a:t>
            </a:r>
            <a:r>
              <a:rPr lang="en-US" i="1" dirty="0"/>
              <a:t>n</a:t>
            </a:r>
            <a:r>
              <a:rPr lang="en-US" dirty="0"/>
              <a:t>=30)</a:t>
            </a:r>
          </a:p>
          <a:p>
            <a:r>
              <a:rPr lang="en-US" dirty="0"/>
              <a:t>demographics (participants with existing fMRI data):</a:t>
            </a:r>
          </a:p>
          <a:p>
            <a:pPr lvl="1"/>
            <a:r>
              <a:rPr lang="en-US" dirty="0"/>
              <a:t>36m 38f</a:t>
            </a:r>
          </a:p>
          <a:p>
            <a:pPr lvl="1"/>
            <a:r>
              <a:rPr lang="en-US" dirty="0"/>
              <a:t>15 AA, 30 white, 29 </a:t>
            </a:r>
            <a:r>
              <a:rPr lang="en-US" dirty="0" err="1"/>
              <a:t>hispanic</a:t>
            </a:r>
            <a:r>
              <a:rPr lang="en-US" dirty="0"/>
              <a:t> (any race)</a:t>
            </a:r>
          </a:p>
          <a:p>
            <a:endParaRPr lang="en-US" dirty="0"/>
          </a:p>
        </p:txBody>
      </p:sp>
    </p:spTree>
    <p:extLst>
      <p:ext uri="{BB962C8B-B14F-4D97-AF65-F5344CB8AC3E}">
        <p14:creationId xmlns:p14="http://schemas.microsoft.com/office/powerpoint/2010/main" val="8484445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723" y="731531"/>
            <a:ext cx="8229600" cy="4525963"/>
          </a:xfrm>
        </p:spPr>
        <p:txBody>
          <a:bodyPr>
            <a:normAutofit/>
          </a:bodyPr>
          <a:lstStyle/>
          <a:p>
            <a:pPr marL="0" indent="0">
              <a:buNone/>
            </a:pPr>
            <a:r>
              <a:rPr lang="en-US" sz="2000" b="1" dirty="0">
                <a:latin typeface="Helvetica"/>
                <a:cs typeface="Helvetica"/>
              </a:rPr>
              <a:t>Participants are video-recorded while… </a:t>
            </a:r>
          </a:p>
          <a:p>
            <a:r>
              <a:rPr lang="en-US" sz="2000" dirty="0">
                <a:latin typeface="Helvetica"/>
                <a:cs typeface="Helvetica"/>
              </a:rPr>
              <a:t>recalling 6 frequently-occurring thoughts</a:t>
            </a:r>
          </a:p>
          <a:p>
            <a:r>
              <a:rPr lang="en-US" sz="2000" dirty="0">
                <a:latin typeface="Helvetica"/>
                <a:cs typeface="Helvetica"/>
              </a:rPr>
              <a:t>rating each thought on a variety of content variables</a:t>
            </a:r>
          </a:p>
          <a:p>
            <a:endParaRPr lang="en-US" sz="2000" dirty="0">
              <a:latin typeface="Helvetica"/>
              <a:cs typeface="Helvetica"/>
            </a:endParaRPr>
          </a:p>
          <a:p>
            <a:pPr marL="0" indent="0">
              <a:buNone/>
            </a:pPr>
            <a:endParaRPr lang="en-US" sz="2000" dirty="0">
              <a:latin typeface="Helvetica"/>
              <a:cs typeface="Helvetica"/>
            </a:endParaRPr>
          </a:p>
          <a:p>
            <a:pPr marL="0" indent="0">
              <a:buNone/>
            </a:pPr>
            <a:endParaRPr lang="en-US" sz="2000" dirty="0">
              <a:latin typeface="Helvetica"/>
              <a:cs typeface="Helvetica"/>
            </a:endParaRPr>
          </a:p>
        </p:txBody>
      </p:sp>
      <p:sp>
        <p:nvSpPr>
          <p:cNvPr id="4" name="Rectangle 3"/>
          <p:cNvSpPr/>
          <p:nvPr/>
        </p:nvSpPr>
        <p:spPr>
          <a:xfrm>
            <a:off x="0" y="0"/>
            <a:ext cx="9144000" cy="535101"/>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400" dirty="0">
                <a:solidFill>
                  <a:srgbClr val="FFFF00"/>
                </a:solidFill>
                <a:latin typeface="Helvetica"/>
                <a:cs typeface="Helvetica"/>
              </a:rPr>
              <a:t>Autobiographical Thought Sampling Task</a:t>
            </a:r>
          </a:p>
        </p:txBody>
      </p:sp>
      <p:cxnSp>
        <p:nvCxnSpPr>
          <p:cNvPr id="5" name="Straight Connector 4"/>
          <p:cNvCxnSpPr/>
          <p:nvPr/>
        </p:nvCxnSpPr>
        <p:spPr>
          <a:xfrm>
            <a:off x="0" y="53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16" name="Rectangle 15"/>
          <p:cNvSpPr/>
          <p:nvPr/>
        </p:nvSpPr>
        <p:spPr>
          <a:xfrm>
            <a:off x="121722" y="5983488"/>
            <a:ext cx="8902511" cy="707886"/>
          </a:xfrm>
          <a:prstGeom prst="rect">
            <a:avLst/>
          </a:prstGeom>
        </p:spPr>
        <p:txBody>
          <a:bodyPr wrap="square">
            <a:spAutoFit/>
          </a:bodyPr>
          <a:lstStyle/>
          <a:p>
            <a:pPr marL="285750" indent="-285750">
              <a:buFont typeface="Arial"/>
              <a:buChar char="•"/>
            </a:pPr>
            <a:r>
              <a:rPr lang="en-US" sz="2000" dirty="0">
                <a:latin typeface="Helvetica"/>
                <a:cs typeface="Helvetica"/>
              </a:rPr>
              <a:t>verbally describing the nature of each thought for 45 seconds</a:t>
            </a:r>
          </a:p>
          <a:p>
            <a:pPr marL="285750" indent="-285750">
              <a:buFont typeface="Arial"/>
              <a:buChar char="•"/>
            </a:pPr>
            <a:endParaRPr lang="en-US" sz="2000" dirty="0">
              <a:latin typeface="Helvetica"/>
              <a:cs typeface="Helvetica"/>
            </a:endParaRPr>
          </a:p>
        </p:txBody>
      </p:sp>
      <p:grpSp>
        <p:nvGrpSpPr>
          <p:cNvPr id="25" name="Group 24"/>
          <p:cNvGrpSpPr/>
          <p:nvPr/>
        </p:nvGrpSpPr>
        <p:grpSpPr>
          <a:xfrm>
            <a:off x="121723" y="2042800"/>
            <a:ext cx="7349573" cy="2514645"/>
            <a:chOff x="560558" y="1598451"/>
            <a:chExt cx="4737296" cy="1690335"/>
          </a:xfrm>
        </p:grpSpPr>
        <p:sp>
          <p:nvSpPr>
            <p:cNvPr id="7" name="Rectangle 6"/>
            <p:cNvSpPr/>
            <p:nvPr/>
          </p:nvSpPr>
          <p:spPr>
            <a:xfrm>
              <a:off x="592666" y="2625337"/>
              <a:ext cx="4510619" cy="646331"/>
            </a:xfrm>
            <a:prstGeom prst="rect">
              <a:avLst/>
            </a:prstGeom>
          </p:spPr>
          <p:txBody>
            <a:bodyPr wrap="square">
              <a:spAutoFit/>
            </a:bodyPr>
            <a:lstStyle/>
            <a:p>
              <a:r>
                <a:rPr lang="en-US" dirty="0">
                  <a:solidFill>
                    <a:srgbClr val="FF00FF"/>
                  </a:solidFill>
                  <a:latin typeface="Helvetica"/>
                  <a:cs typeface="Helvetica"/>
                </a:rPr>
                <a:t>I experience this thought with clear and vivid mental imagery.</a:t>
              </a:r>
            </a:p>
          </p:txBody>
        </p:sp>
        <p:sp>
          <p:nvSpPr>
            <p:cNvPr id="8" name="Rectangle 7"/>
            <p:cNvSpPr/>
            <p:nvPr/>
          </p:nvSpPr>
          <p:spPr>
            <a:xfrm>
              <a:off x="574496" y="2207880"/>
              <a:ext cx="4233583" cy="646331"/>
            </a:xfrm>
            <a:prstGeom prst="rect">
              <a:avLst/>
            </a:prstGeom>
          </p:spPr>
          <p:txBody>
            <a:bodyPr wrap="square">
              <a:spAutoFit/>
            </a:bodyPr>
            <a:lstStyle/>
            <a:p>
              <a:r>
                <a:rPr lang="en-US" dirty="0">
                  <a:solidFill>
                    <a:srgbClr val="FF6600"/>
                  </a:solidFill>
                  <a:latin typeface="Helvetica"/>
                  <a:cs typeface="Helvetica"/>
                </a:rPr>
                <a:t>This thought contributes to my sense of self-identity.</a:t>
              </a:r>
            </a:p>
          </p:txBody>
        </p:sp>
        <p:sp>
          <p:nvSpPr>
            <p:cNvPr id="9" name="Rectangle 8"/>
            <p:cNvSpPr/>
            <p:nvPr/>
          </p:nvSpPr>
          <p:spPr>
            <a:xfrm>
              <a:off x="573130" y="2005824"/>
              <a:ext cx="4724724" cy="646331"/>
            </a:xfrm>
            <a:prstGeom prst="rect">
              <a:avLst/>
            </a:prstGeom>
          </p:spPr>
          <p:txBody>
            <a:bodyPr wrap="square">
              <a:spAutoFit/>
            </a:bodyPr>
            <a:lstStyle/>
            <a:p>
              <a:r>
                <a:rPr lang="en-US" dirty="0">
                  <a:solidFill>
                    <a:srgbClr val="0000FF"/>
                  </a:solidFill>
                  <a:latin typeface="Helvetica"/>
                  <a:cs typeface="Helvetica"/>
                </a:rPr>
                <a:t>When this thought occurs, it is hard for me to stop thinking about it.</a:t>
              </a:r>
            </a:p>
          </p:txBody>
        </p:sp>
        <p:sp>
          <p:nvSpPr>
            <p:cNvPr id="10" name="Rectangle 9"/>
            <p:cNvSpPr/>
            <p:nvPr/>
          </p:nvSpPr>
          <p:spPr>
            <a:xfrm>
              <a:off x="573521" y="1805888"/>
              <a:ext cx="4252926" cy="646331"/>
            </a:xfrm>
            <a:prstGeom prst="rect">
              <a:avLst/>
            </a:prstGeom>
          </p:spPr>
          <p:txBody>
            <a:bodyPr wrap="square">
              <a:spAutoFit/>
            </a:bodyPr>
            <a:lstStyle/>
            <a:p>
              <a:r>
                <a:rPr lang="en-US" dirty="0">
                  <a:solidFill>
                    <a:srgbClr val="FF0000"/>
                  </a:solidFill>
                  <a:latin typeface="Helvetica"/>
                  <a:cs typeface="Helvetica"/>
                </a:rPr>
                <a:t>My emotions pertaining to this thought are NEGATIVE.</a:t>
              </a:r>
            </a:p>
          </p:txBody>
        </p:sp>
        <p:sp>
          <p:nvSpPr>
            <p:cNvPr id="11" name="Rectangle 10"/>
            <p:cNvSpPr/>
            <p:nvPr/>
          </p:nvSpPr>
          <p:spPr>
            <a:xfrm>
              <a:off x="573520" y="1598451"/>
              <a:ext cx="4252928" cy="646331"/>
            </a:xfrm>
            <a:prstGeom prst="rect">
              <a:avLst/>
            </a:prstGeom>
          </p:spPr>
          <p:txBody>
            <a:bodyPr wrap="square">
              <a:spAutoFit/>
            </a:bodyPr>
            <a:lstStyle/>
            <a:p>
              <a:r>
                <a:rPr lang="en-US" dirty="0">
                  <a:solidFill>
                    <a:srgbClr val="00FF00"/>
                  </a:solidFill>
                  <a:latin typeface="Helvetica"/>
                  <a:cs typeface="Helvetica"/>
                </a:rPr>
                <a:t>My emotions pertaining to this thought are POSITIVE.</a:t>
              </a:r>
            </a:p>
          </p:txBody>
        </p:sp>
        <p:sp>
          <p:nvSpPr>
            <p:cNvPr id="12" name="Rectangle 11"/>
            <p:cNvSpPr/>
            <p:nvPr/>
          </p:nvSpPr>
          <p:spPr>
            <a:xfrm>
              <a:off x="567138" y="2417900"/>
              <a:ext cx="4233584" cy="646331"/>
            </a:xfrm>
            <a:prstGeom prst="rect">
              <a:avLst/>
            </a:prstGeom>
          </p:spPr>
          <p:txBody>
            <a:bodyPr wrap="square">
              <a:spAutoFit/>
            </a:bodyPr>
            <a:lstStyle/>
            <a:p>
              <a:r>
                <a:rPr lang="en-US" dirty="0">
                  <a:latin typeface="Helvetica"/>
                  <a:cs typeface="Helvetica"/>
                </a:rPr>
                <a:t>This thought involves, or concerns, other people.</a:t>
              </a:r>
            </a:p>
          </p:txBody>
        </p:sp>
        <p:sp>
          <p:nvSpPr>
            <p:cNvPr id="23" name="Rectangle 22"/>
            <p:cNvSpPr/>
            <p:nvPr/>
          </p:nvSpPr>
          <p:spPr>
            <a:xfrm>
              <a:off x="560558" y="2836324"/>
              <a:ext cx="4252928" cy="248264"/>
            </a:xfrm>
            <a:prstGeom prst="rect">
              <a:avLst/>
            </a:prstGeom>
          </p:spPr>
          <p:txBody>
            <a:bodyPr wrap="square">
              <a:spAutoFit/>
            </a:bodyPr>
            <a:lstStyle/>
            <a:p>
              <a:r>
                <a:rPr lang="en-US" dirty="0">
                  <a:solidFill>
                    <a:srgbClr val="00FFFF"/>
                  </a:solidFill>
                  <a:latin typeface="Helvetica"/>
                  <a:cs typeface="Helvetica"/>
                </a:rPr>
                <a:t>This thought concerns a topic that pertains to …</a:t>
              </a:r>
            </a:p>
          </p:txBody>
        </p:sp>
        <p:sp>
          <p:nvSpPr>
            <p:cNvPr id="24" name="Rectangle 23"/>
            <p:cNvSpPr/>
            <p:nvPr/>
          </p:nvSpPr>
          <p:spPr>
            <a:xfrm>
              <a:off x="560558" y="3040522"/>
              <a:ext cx="3278357" cy="248264"/>
            </a:xfrm>
            <a:prstGeom prst="rect">
              <a:avLst/>
            </a:prstGeom>
          </p:spPr>
          <p:txBody>
            <a:bodyPr wrap="none">
              <a:spAutoFit/>
            </a:bodyPr>
            <a:lstStyle/>
            <a:p>
              <a:r>
                <a:rPr lang="en-US" dirty="0">
                  <a:solidFill>
                    <a:schemeClr val="bg1">
                      <a:lumMod val="50000"/>
                    </a:schemeClr>
                  </a:solidFill>
                  <a:latin typeface="Helvetica"/>
                  <a:cs typeface="Helvetica"/>
                </a:rPr>
                <a:t>This thought concerns a topic that pertains to …</a:t>
              </a:r>
            </a:p>
          </p:txBody>
        </p:sp>
      </p:grpSp>
      <p:pic>
        <p:nvPicPr>
          <p:cNvPr id="2" name="Picture 1" descr="RateTime3.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0765" y="4531979"/>
            <a:ext cx="4572000" cy="1496860"/>
          </a:xfrm>
          <a:prstGeom prst="rect">
            <a:avLst/>
          </a:prstGeom>
        </p:spPr>
      </p:pic>
      <p:pic>
        <p:nvPicPr>
          <p:cNvPr id="6" name="Picture 5" descr="Duration.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4446" y="4169449"/>
            <a:ext cx="3009979" cy="725060"/>
          </a:xfrm>
          <a:prstGeom prst="rect">
            <a:avLst/>
          </a:prstGeom>
        </p:spPr>
      </p:pic>
    </p:spTree>
    <p:extLst>
      <p:ext uri="{BB962C8B-B14F-4D97-AF65-F5344CB8AC3E}">
        <p14:creationId xmlns:p14="http://schemas.microsoft.com/office/powerpoint/2010/main" val="2419682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535101"/>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400" dirty="0">
                <a:solidFill>
                  <a:srgbClr val="FFFF00"/>
                </a:solidFill>
                <a:latin typeface="Helvetica"/>
                <a:cs typeface="Helvetica"/>
              </a:rPr>
              <a:t>Self-Report Ratings: Relationships with Mental Health Traits</a:t>
            </a:r>
          </a:p>
        </p:txBody>
      </p:sp>
      <p:cxnSp>
        <p:nvCxnSpPr>
          <p:cNvPr id="7" name="Straight Connector 6"/>
          <p:cNvCxnSpPr/>
          <p:nvPr/>
        </p:nvCxnSpPr>
        <p:spPr>
          <a:xfrm>
            <a:off x="0" y="535101"/>
            <a:ext cx="9144000" cy="0"/>
          </a:xfrm>
          <a:prstGeom prst="line">
            <a:avLst/>
          </a:prstGeom>
        </p:spPr>
        <p:style>
          <a:lnRef idx="1">
            <a:schemeClr val="accent2"/>
          </a:lnRef>
          <a:fillRef idx="0">
            <a:schemeClr val="accent2"/>
          </a:fillRef>
          <a:effectRef idx="0">
            <a:schemeClr val="accent2"/>
          </a:effectRef>
          <a:fontRef idx="minor">
            <a:schemeClr val="tx1"/>
          </a:fontRef>
        </p:style>
      </p:cxnSp>
      <p:pic>
        <p:nvPicPr>
          <p:cNvPr id="2" name="Picture 1" descr="ThoughtRatngs_x_Traits.eps"/>
          <p:cNvPicPr>
            <a:picLocks noChangeAspect="1"/>
          </p:cNvPicPr>
          <p:nvPr/>
        </p:nvPicPr>
        <p:blipFill rotWithShape="1">
          <a:blip r:embed="rId3">
            <a:extLst>
              <a:ext uri="{28A0092B-C50C-407E-A947-70E740481C1C}">
                <a14:useLocalDpi xmlns:a14="http://schemas.microsoft.com/office/drawing/2010/main" val="0"/>
              </a:ext>
            </a:extLst>
          </a:blip>
          <a:srcRect l="9890" r="7899"/>
          <a:stretch/>
        </p:blipFill>
        <p:spPr>
          <a:xfrm>
            <a:off x="121867" y="1369711"/>
            <a:ext cx="8888258" cy="4926409"/>
          </a:xfrm>
          <a:prstGeom prst="rect">
            <a:avLst/>
          </a:prstGeom>
        </p:spPr>
      </p:pic>
      <p:sp>
        <p:nvSpPr>
          <p:cNvPr id="12" name="TextBox 11"/>
          <p:cNvSpPr txBox="1"/>
          <p:nvPr/>
        </p:nvSpPr>
        <p:spPr>
          <a:xfrm>
            <a:off x="594677" y="6227106"/>
            <a:ext cx="1527957" cy="461665"/>
          </a:xfrm>
          <a:prstGeom prst="rect">
            <a:avLst/>
          </a:prstGeom>
          <a:noFill/>
        </p:spPr>
        <p:txBody>
          <a:bodyPr wrap="none" rtlCol="0">
            <a:spAutoFit/>
          </a:bodyPr>
          <a:lstStyle/>
          <a:p>
            <a:r>
              <a:rPr lang="en-US" sz="1200" dirty="0">
                <a:latin typeface="Helvetica"/>
                <a:cs typeface="Helvetica"/>
              </a:rPr>
              <a:t>r = 0.44; p = 0.0001</a:t>
            </a:r>
          </a:p>
          <a:p>
            <a:r>
              <a:rPr lang="en-US" sz="1200" dirty="0">
                <a:latin typeface="Helvetica"/>
                <a:cs typeface="Helvetica"/>
              </a:rPr>
              <a:t>rob p = 0.000065***</a:t>
            </a:r>
          </a:p>
        </p:txBody>
      </p:sp>
      <p:sp>
        <p:nvSpPr>
          <p:cNvPr id="14" name="TextBox 13"/>
          <p:cNvSpPr txBox="1"/>
          <p:nvPr/>
        </p:nvSpPr>
        <p:spPr>
          <a:xfrm>
            <a:off x="2805980" y="6227106"/>
            <a:ext cx="1493618" cy="461665"/>
          </a:xfrm>
          <a:prstGeom prst="rect">
            <a:avLst/>
          </a:prstGeom>
          <a:noFill/>
        </p:spPr>
        <p:txBody>
          <a:bodyPr wrap="none" rtlCol="0">
            <a:spAutoFit/>
          </a:bodyPr>
          <a:lstStyle/>
          <a:p>
            <a:r>
              <a:rPr lang="en-US" sz="1200" dirty="0">
                <a:latin typeface="Helvetica"/>
                <a:cs typeface="Helvetica"/>
              </a:rPr>
              <a:t>r = -0.41; p = 0.003</a:t>
            </a:r>
          </a:p>
          <a:p>
            <a:r>
              <a:rPr lang="en-US" sz="1200" dirty="0">
                <a:latin typeface="Helvetica"/>
                <a:cs typeface="Helvetica"/>
              </a:rPr>
              <a:t>rob p = 0.00024***</a:t>
            </a:r>
          </a:p>
        </p:txBody>
      </p:sp>
      <p:sp>
        <p:nvSpPr>
          <p:cNvPr id="15" name="TextBox 14"/>
          <p:cNvSpPr txBox="1"/>
          <p:nvPr/>
        </p:nvSpPr>
        <p:spPr>
          <a:xfrm>
            <a:off x="5055767" y="6227106"/>
            <a:ext cx="1345440" cy="461665"/>
          </a:xfrm>
          <a:prstGeom prst="rect">
            <a:avLst/>
          </a:prstGeom>
          <a:noFill/>
        </p:spPr>
        <p:txBody>
          <a:bodyPr wrap="none" rtlCol="0">
            <a:spAutoFit/>
          </a:bodyPr>
          <a:lstStyle/>
          <a:p>
            <a:r>
              <a:rPr lang="en-US" sz="1200" dirty="0">
                <a:latin typeface="Helvetica"/>
                <a:cs typeface="Helvetica"/>
              </a:rPr>
              <a:t>r = 0.11; p = 0.35</a:t>
            </a:r>
          </a:p>
          <a:p>
            <a:r>
              <a:rPr lang="en-US" sz="1200" dirty="0">
                <a:latin typeface="Helvetica"/>
                <a:cs typeface="Helvetica"/>
              </a:rPr>
              <a:t>rob p = 0.58</a:t>
            </a:r>
          </a:p>
        </p:txBody>
      </p:sp>
      <p:sp>
        <p:nvSpPr>
          <p:cNvPr id="16" name="TextBox 15"/>
          <p:cNvSpPr txBox="1"/>
          <p:nvPr/>
        </p:nvSpPr>
        <p:spPr>
          <a:xfrm>
            <a:off x="7299141" y="6227106"/>
            <a:ext cx="1356787" cy="461665"/>
          </a:xfrm>
          <a:prstGeom prst="rect">
            <a:avLst/>
          </a:prstGeom>
          <a:noFill/>
        </p:spPr>
        <p:txBody>
          <a:bodyPr wrap="none" rtlCol="0">
            <a:spAutoFit/>
          </a:bodyPr>
          <a:lstStyle/>
          <a:p>
            <a:r>
              <a:rPr lang="en-US" sz="1200" dirty="0">
                <a:latin typeface="Helvetica"/>
                <a:cs typeface="Helvetica"/>
              </a:rPr>
              <a:t>r = 0.30; p = 0.01</a:t>
            </a:r>
          </a:p>
          <a:p>
            <a:r>
              <a:rPr lang="en-US" sz="1200" dirty="0">
                <a:latin typeface="Helvetica"/>
                <a:cs typeface="Helvetica"/>
              </a:rPr>
              <a:t>rob p = 0.009**</a:t>
            </a:r>
          </a:p>
        </p:txBody>
      </p:sp>
      <p:sp>
        <p:nvSpPr>
          <p:cNvPr id="3" name="TextBox 2"/>
          <p:cNvSpPr txBox="1"/>
          <p:nvPr/>
        </p:nvSpPr>
        <p:spPr>
          <a:xfrm>
            <a:off x="121867" y="764265"/>
            <a:ext cx="7338893" cy="369332"/>
          </a:xfrm>
          <a:prstGeom prst="rect">
            <a:avLst/>
          </a:prstGeom>
          <a:noFill/>
        </p:spPr>
        <p:txBody>
          <a:bodyPr wrap="none" rtlCol="0">
            <a:spAutoFit/>
          </a:bodyPr>
          <a:lstStyle/>
          <a:p>
            <a:r>
              <a:rPr lang="en-US" b="1" dirty="0"/>
              <a:t>Depression Composite </a:t>
            </a:r>
            <a:r>
              <a:rPr lang="en-US" dirty="0"/>
              <a:t>= BDI-II, Ruminative Response Scale, PANAS-Negative</a:t>
            </a:r>
          </a:p>
        </p:txBody>
      </p:sp>
    </p:spTree>
    <p:extLst>
      <p:ext uri="{BB962C8B-B14F-4D97-AF65-F5344CB8AC3E}">
        <p14:creationId xmlns:p14="http://schemas.microsoft.com/office/powerpoint/2010/main" val="2106771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535101"/>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400" dirty="0">
                <a:solidFill>
                  <a:srgbClr val="FFFF00"/>
                </a:solidFill>
                <a:latin typeface="Helvetica"/>
                <a:cs typeface="Helvetica"/>
              </a:rPr>
              <a:t>Semantic Association Task</a:t>
            </a:r>
          </a:p>
        </p:txBody>
      </p:sp>
      <p:cxnSp>
        <p:nvCxnSpPr>
          <p:cNvPr id="5" name="Straight Connector 4"/>
          <p:cNvCxnSpPr/>
          <p:nvPr/>
        </p:nvCxnSpPr>
        <p:spPr>
          <a:xfrm>
            <a:off x="0" y="53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9026" y="707628"/>
            <a:ext cx="4043446" cy="1477328"/>
          </a:xfrm>
          <a:prstGeom prst="rect">
            <a:avLst/>
          </a:prstGeom>
          <a:noFill/>
        </p:spPr>
        <p:txBody>
          <a:bodyPr wrap="square" rtlCol="0">
            <a:spAutoFit/>
          </a:bodyPr>
          <a:lstStyle/>
          <a:p>
            <a:r>
              <a:rPr lang="en-US" dirty="0">
                <a:latin typeface="Helvetica"/>
                <a:cs typeface="Helvetica"/>
              </a:rPr>
              <a:t>21 abstract concepts (seed words) drawn from ANEW database</a:t>
            </a:r>
          </a:p>
          <a:p>
            <a:r>
              <a:rPr lang="en-US" dirty="0">
                <a:latin typeface="Helvetica"/>
                <a:cs typeface="Helvetica"/>
              </a:rPr>
              <a:t>	</a:t>
            </a:r>
          </a:p>
          <a:p>
            <a:endParaRPr lang="en-US" dirty="0">
              <a:latin typeface="Helvetica"/>
              <a:cs typeface="Helvetica"/>
            </a:endParaRPr>
          </a:p>
          <a:p>
            <a:r>
              <a:rPr lang="en-US" dirty="0">
                <a:latin typeface="Helvetica"/>
                <a:cs typeface="Helvetica"/>
              </a:rPr>
              <a:t>		</a:t>
            </a:r>
          </a:p>
        </p:txBody>
      </p:sp>
      <p:grpSp>
        <p:nvGrpSpPr>
          <p:cNvPr id="63" name="Group 62"/>
          <p:cNvGrpSpPr/>
          <p:nvPr/>
        </p:nvGrpSpPr>
        <p:grpSpPr>
          <a:xfrm>
            <a:off x="3937238" y="0"/>
            <a:ext cx="5218377" cy="6723854"/>
            <a:chOff x="3937238" y="0"/>
            <a:chExt cx="5218377" cy="6723854"/>
          </a:xfrm>
        </p:grpSpPr>
        <p:sp>
          <p:nvSpPr>
            <p:cNvPr id="60" name="Rectangle 59"/>
            <p:cNvSpPr/>
            <p:nvPr/>
          </p:nvSpPr>
          <p:spPr>
            <a:xfrm>
              <a:off x="3937238" y="0"/>
              <a:ext cx="5218377" cy="672385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59" name="Group 58"/>
            <p:cNvGrpSpPr/>
            <p:nvPr/>
          </p:nvGrpSpPr>
          <p:grpSpPr>
            <a:xfrm>
              <a:off x="3937238" y="208931"/>
              <a:ext cx="5218377" cy="6514923"/>
              <a:chOff x="3605433" y="585981"/>
              <a:chExt cx="5218377" cy="6514923"/>
            </a:xfrm>
          </p:grpSpPr>
          <p:grpSp>
            <p:nvGrpSpPr>
              <p:cNvPr id="39" name="Group 38"/>
              <p:cNvGrpSpPr/>
              <p:nvPr/>
            </p:nvGrpSpPr>
            <p:grpSpPr>
              <a:xfrm>
                <a:off x="3605433" y="585981"/>
                <a:ext cx="5218377" cy="5923025"/>
                <a:chOff x="3724129" y="762000"/>
                <a:chExt cx="5218377" cy="5923025"/>
              </a:xfrm>
            </p:grpSpPr>
            <p:pic>
              <p:nvPicPr>
                <p:cNvPr id="16" name="Picture 15" descr="SeedWords.eps"/>
                <p:cNvPicPr>
                  <a:picLocks noChangeAspect="1"/>
                </p:cNvPicPr>
                <p:nvPr/>
              </p:nvPicPr>
              <p:blipFill rotWithShape="1">
                <a:blip r:embed="rId3">
                  <a:extLst>
                    <a:ext uri="{28A0092B-C50C-407E-A947-70E740481C1C}">
                      <a14:useLocalDpi xmlns:a14="http://schemas.microsoft.com/office/drawing/2010/main" val="0"/>
                    </a:ext>
                  </a:extLst>
                </a:blip>
                <a:srcRect l="9753" b="3794"/>
                <a:stretch/>
              </p:blipFill>
              <p:spPr>
                <a:xfrm rot="5400000">
                  <a:off x="3914558" y="1657078"/>
                  <a:ext cx="5923025" cy="4132870"/>
                </a:xfrm>
                <a:prstGeom prst="rect">
                  <a:avLst/>
                </a:prstGeom>
              </p:spPr>
            </p:pic>
            <p:sp>
              <p:nvSpPr>
                <p:cNvPr id="17" name="TextBox 16"/>
                <p:cNvSpPr txBox="1"/>
                <p:nvPr/>
              </p:nvSpPr>
              <p:spPr>
                <a:xfrm>
                  <a:off x="4008392" y="848040"/>
                  <a:ext cx="813043" cy="338554"/>
                </a:xfrm>
                <a:prstGeom prst="rect">
                  <a:avLst/>
                </a:prstGeom>
                <a:noFill/>
              </p:spPr>
              <p:txBody>
                <a:bodyPr wrap="none" rtlCol="0">
                  <a:spAutoFit/>
                </a:bodyPr>
                <a:lstStyle/>
                <a:p>
                  <a:pPr algn="r"/>
                  <a:r>
                    <a:rPr lang="en-US" sz="1600" dirty="0">
                      <a:solidFill>
                        <a:srgbClr val="FF0000"/>
                      </a:solidFill>
                      <a:latin typeface="Helvetica"/>
                      <a:cs typeface="Helvetica"/>
                    </a:rPr>
                    <a:t>Failure</a:t>
                  </a:r>
                </a:p>
              </p:txBody>
            </p:sp>
            <p:sp>
              <p:nvSpPr>
                <p:cNvPr id="18" name="TextBox 17"/>
                <p:cNvSpPr txBox="1"/>
                <p:nvPr/>
              </p:nvSpPr>
              <p:spPr>
                <a:xfrm>
                  <a:off x="4226100" y="1112277"/>
                  <a:ext cx="595335" cy="338554"/>
                </a:xfrm>
                <a:prstGeom prst="rect">
                  <a:avLst/>
                </a:prstGeom>
                <a:noFill/>
              </p:spPr>
              <p:txBody>
                <a:bodyPr wrap="none" rtlCol="0">
                  <a:spAutoFit/>
                </a:bodyPr>
                <a:lstStyle/>
                <a:p>
                  <a:pPr algn="r"/>
                  <a:r>
                    <a:rPr lang="en-US" sz="1600" dirty="0">
                      <a:solidFill>
                        <a:srgbClr val="FF0000"/>
                      </a:solidFill>
                      <a:latin typeface="Helvetica"/>
                      <a:cs typeface="Helvetica"/>
                    </a:rPr>
                    <a:t>Pain</a:t>
                  </a:r>
                </a:p>
              </p:txBody>
            </p:sp>
            <p:sp>
              <p:nvSpPr>
                <p:cNvPr id="19" name="TextBox 18"/>
                <p:cNvSpPr txBox="1"/>
                <p:nvPr/>
              </p:nvSpPr>
              <p:spPr>
                <a:xfrm>
                  <a:off x="3982814" y="1373417"/>
                  <a:ext cx="838691" cy="338554"/>
                </a:xfrm>
                <a:prstGeom prst="rect">
                  <a:avLst/>
                </a:prstGeom>
                <a:noFill/>
              </p:spPr>
              <p:txBody>
                <a:bodyPr wrap="none" rtlCol="0">
                  <a:spAutoFit/>
                </a:bodyPr>
                <a:lstStyle/>
                <a:p>
                  <a:pPr algn="r"/>
                  <a:r>
                    <a:rPr lang="en-US" sz="1600" dirty="0">
                      <a:solidFill>
                        <a:srgbClr val="FF0000"/>
                      </a:solidFill>
                      <a:latin typeface="Helvetica"/>
                      <a:cs typeface="Helvetica"/>
                    </a:rPr>
                    <a:t>Shame</a:t>
                  </a:r>
                </a:p>
              </p:txBody>
            </p:sp>
            <p:sp>
              <p:nvSpPr>
                <p:cNvPr id="20" name="TextBox 19"/>
                <p:cNvSpPr txBox="1"/>
                <p:nvPr/>
              </p:nvSpPr>
              <p:spPr>
                <a:xfrm>
                  <a:off x="4093421" y="1649524"/>
                  <a:ext cx="728084" cy="338554"/>
                </a:xfrm>
                <a:prstGeom prst="rect">
                  <a:avLst/>
                </a:prstGeom>
                <a:noFill/>
              </p:spPr>
              <p:txBody>
                <a:bodyPr wrap="none" rtlCol="0">
                  <a:spAutoFit/>
                </a:bodyPr>
                <a:lstStyle/>
                <a:p>
                  <a:pPr algn="r"/>
                  <a:r>
                    <a:rPr lang="en-US" sz="1600" dirty="0">
                      <a:solidFill>
                        <a:srgbClr val="FF0000"/>
                      </a:solidFill>
                      <a:latin typeface="Helvetica"/>
                      <a:cs typeface="Helvetica"/>
                    </a:rPr>
                    <a:t>Worry</a:t>
                  </a:r>
                </a:p>
              </p:txBody>
            </p:sp>
            <p:sp>
              <p:nvSpPr>
                <p:cNvPr id="21" name="TextBox 20"/>
                <p:cNvSpPr txBox="1"/>
                <p:nvPr/>
              </p:nvSpPr>
              <p:spPr>
                <a:xfrm>
                  <a:off x="4111054" y="1920203"/>
                  <a:ext cx="710451" cy="338554"/>
                </a:xfrm>
                <a:prstGeom prst="rect">
                  <a:avLst/>
                </a:prstGeom>
                <a:noFill/>
              </p:spPr>
              <p:txBody>
                <a:bodyPr wrap="none" rtlCol="0">
                  <a:spAutoFit/>
                </a:bodyPr>
                <a:lstStyle/>
                <a:p>
                  <a:pPr algn="r"/>
                  <a:r>
                    <a:rPr lang="en-US" sz="1600" dirty="0">
                      <a:solidFill>
                        <a:srgbClr val="FF0000"/>
                      </a:solidFill>
                      <a:latin typeface="Helvetica"/>
                      <a:cs typeface="Helvetica"/>
                    </a:rPr>
                    <a:t>Alone</a:t>
                  </a:r>
                </a:p>
              </p:txBody>
            </p:sp>
            <p:sp>
              <p:nvSpPr>
                <p:cNvPr id="22" name="TextBox 21"/>
                <p:cNvSpPr txBox="1"/>
                <p:nvPr/>
              </p:nvSpPr>
              <p:spPr>
                <a:xfrm>
                  <a:off x="3827022" y="2184440"/>
                  <a:ext cx="994483" cy="338554"/>
                </a:xfrm>
                <a:prstGeom prst="rect">
                  <a:avLst/>
                </a:prstGeom>
                <a:noFill/>
              </p:spPr>
              <p:txBody>
                <a:bodyPr wrap="none" rtlCol="0">
                  <a:spAutoFit/>
                </a:bodyPr>
                <a:lstStyle/>
                <a:p>
                  <a:pPr algn="r"/>
                  <a:r>
                    <a:rPr lang="en-US" sz="1600" dirty="0">
                      <a:solidFill>
                        <a:srgbClr val="FF0000"/>
                      </a:solidFill>
                      <a:latin typeface="Helvetica"/>
                      <a:cs typeface="Helvetica"/>
                    </a:rPr>
                    <a:t>Jealousy</a:t>
                  </a:r>
                </a:p>
              </p:txBody>
            </p:sp>
            <p:sp>
              <p:nvSpPr>
                <p:cNvPr id="23" name="TextBox 22"/>
                <p:cNvSpPr txBox="1"/>
                <p:nvPr/>
              </p:nvSpPr>
              <p:spPr>
                <a:xfrm>
                  <a:off x="4123948" y="2445580"/>
                  <a:ext cx="697627" cy="338554"/>
                </a:xfrm>
                <a:prstGeom prst="rect">
                  <a:avLst/>
                </a:prstGeom>
                <a:noFill/>
              </p:spPr>
              <p:txBody>
                <a:bodyPr wrap="none" rtlCol="0">
                  <a:spAutoFit/>
                </a:bodyPr>
                <a:lstStyle/>
                <a:p>
                  <a:pPr algn="r"/>
                  <a:r>
                    <a:rPr lang="en-US" sz="1600" dirty="0">
                      <a:solidFill>
                        <a:srgbClr val="FF0000"/>
                      </a:solidFill>
                      <a:latin typeface="Helvetica"/>
                      <a:cs typeface="Helvetica"/>
                    </a:rPr>
                    <a:t>Crisis</a:t>
                  </a:r>
                </a:p>
              </p:txBody>
            </p:sp>
            <p:sp>
              <p:nvSpPr>
                <p:cNvPr id="24" name="TextBox 23"/>
                <p:cNvSpPr txBox="1"/>
                <p:nvPr/>
              </p:nvSpPr>
              <p:spPr>
                <a:xfrm>
                  <a:off x="4111124" y="2697947"/>
                  <a:ext cx="710451" cy="338554"/>
                </a:xfrm>
                <a:prstGeom prst="rect">
                  <a:avLst/>
                </a:prstGeom>
                <a:noFill/>
              </p:spPr>
              <p:txBody>
                <a:bodyPr wrap="none" rtlCol="0">
                  <a:spAutoFit/>
                </a:bodyPr>
                <a:lstStyle/>
                <a:p>
                  <a:pPr algn="r"/>
                  <a:r>
                    <a:rPr lang="en-US" sz="1600" dirty="0">
                      <a:latin typeface="Helvetica"/>
                      <a:cs typeface="Helvetica"/>
                    </a:rPr>
                    <a:t>Noise</a:t>
                  </a:r>
                </a:p>
              </p:txBody>
            </p:sp>
            <p:sp>
              <p:nvSpPr>
                <p:cNvPr id="25" name="TextBox 24"/>
                <p:cNvSpPr txBox="1"/>
                <p:nvPr/>
              </p:nvSpPr>
              <p:spPr>
                <a:xfrm>
                  <a:off x="4165386" y="2972144"/>
                  <a:ext cx="656049" cy="338554"/>
                </a:xfrm>
                <a:prstGeom prst="rect">
                  <a:avLst/>
                </a:prstGeom>
                <a:noFill/>
              </p:spPr>
              <p:txBody>
                <a:bodyPr wrap="none" rtlCol="0">
                  <a:spAutoFit/>
                </a:bodyPr>
                <a:lstStyle/>
                <a:p>
                  <a:pPr algn="r"/>
                  <a:r>
                    <a:rPr lang="en-US" sz="1600" dirty="0">
                      <a:latin typeface="Helvetica"/>
                      <a:cs typeface="Helvetica"/>
                    </a:rPr>
                    <a:t>Want</a:t>
                  </a:r>
                </a:p>
              </p:txBody>
            </p:sp>
            <p:sp>
              <p:nvSpPr>
                <p:cNvPr id="26" name="TextBox 25"/>
                <p:cNvSpPr txBox="1"/>
                <p:nvPr/>
              </p:nvSpPr>
              <p:spPr>
                <a:xfrm>
                  <a:off x="4089243" y="3248251"/>
                  <a:ext cx="732192" cy="338554"/>
                </a:xfrm>
                <a:prstGeom prst="rect">
                  <a:avLst/>
                </a:prstGeom>
                <a:noFill/>
              </p:spPr>
              <p:txBody>
                <a:bodyPr wrap="none" rtlCol="0">
                  <a:spAutoFit/>
                </a:bodyPr>
                <a:lstStyle/>
                <a:p>
                  <a:pPr algn="r"/>
                  <a:r>
                    <a:rPr lang="en-US" sz="1600" dirty="0">
                      <a:latin typeface="Helvetica"/>
                      <a:cs typeface="Helvetica"/>
                    </a:rPr>
                    <a:t>Teach</a:t>
                  </a:r>
                </a:p>
              </p:txBody>
            </p:sp>
            <p:sp>
              <p:nvSpPr>
                <p:cNvPr id="27" name="TextBox 26"/>
                <p:cNvSpPr txBox="1"/>
                <p:nvPr/>
              </p:nvSpPr>
              <p:spPr>
                <a:xfrm>
                  <a:off x="4032307" y="3497521"/>
                  <a:ext cx="789198" cy="338554"/>
                </a:xfrm>
                <a:prstGeom prst="rect">
                  <a:avLst/>
                </a:prstGeom>
                <a:noFill/>
              </p:spPr>
              <p:txBody>
                <a:bodyPr wrap="none" rtlCol="0">
                  <a:spAutoFit/>
                </a:bodyPr>
                <a:lstStyle/>
                <a:p>
                  <a:pPr algn="r"/>
                  <a:r>
                    <a:rPr lang="en-US" sz="1600" dirty="0">
                      <a:latin typeface="Helvetica"/>
                      <a:cs typeface="Helvetica"/>
                    </a:rPr>
                    <a:t>Breath</a:t>
                  </a:r>
                </a:p>
              </p:txBody>
            </p:sp>
            <p:sp>
              <p:nvSpPr>
                <p:cNvPr id="28" name="TextBox 27"/>
                <p:cNvSpPr txBox="1"/>
                <p:nvPr/>
              </p:nvSpPr>
              <p:spPr>
                <a:xfrm>
                  <a:off x="4020985" y="3773628"/>
                  <a:ext cx="800520" cy="338554"/>
                </a:xfrm>
                <a:prstGeom prst="rect">
                  <a:avLst/>
                </a:prstGeom>
                <a:noFill/>
              </p:spPr>
              <p:txBody>
                <a:bodyPr wrap="none" rtlCol="0">
                  <a:spAutoFit/>
                </a:bodyPr>
                <a:lstStyle/>
                <a:p>
                  <a:pPr algn="r"/>
                  <a:r>
                    <a:rPr lang="en-US" sz="1600" dirty="0">
                      <a:latin typeface="Helvetica"/>
                      <a:cs typeface="Helvetica"/>
                    </a:rPr>
                    <a:t>Advice</a:t>
                  </a:r>
                </a:p>
              </p:txBody>
            </p:sp>
            <p:sp>
              <p:nvSpPr>
                <p:cNvPr id="29" name="TextBox 28"/>
                <p:cNvSpPr txBox="1"/>
                <p:nvPr/>
              </p:nvSpPr>
              <p:spPr>
                <a:xfrm>
                  <a:off x="3724129" y="4032437"/>
                  <a:ext cx="1097376" cy="338554"/>
                </a:xfrm>
                <a:prstGeom prst="rect">
                  <a:avLst/>
                </a:prstGeom>
                <a:noFill/>
              </p:spPr>
              <p:txBody>
                <a:bodyPr wrap="none" rtlCol="0">
                  <a:spAutoFit/>
                </a:bodyPr>
                <a:lstStyle/>
                <a:p>
                  <a:pPr algn="r"/>
                  <a:r>
                    <a:rPr lang="en-US" sz="1600" dirty="0">
                      <a:latin typeface="Helvetica"/>
                      <a:cs typeface="Helvetica"/>
                    </a:rPr>
                    <a:t>Beginning</a:t>
                  </a:r>
                </a:p>
              </p:txBody>
            </p:sp>
            <p:sp>
              <p:nvSpPr>
                <p:cNvPr id="30" name="TextBox 29"/>
                <p:cNvSpPr txBox="1"/>
                <p:nvPr/>
              </p:nvSpPr>
              <p:spPr>
                <a:xfrm>
                  <a:off x="3893046" y="4296674"/>
                  <a:ext cx="928459" cy="338554"/>
                </a:xfrm>
                <a:prstGeom prst="rect">
                  <a:avLst/>
                </a:prstGeom>
                <a:noFill/>
              </p:spPr>
              <p:txBody>
                <a:bodyPr wrap="none" rtlCol="0">
                  <a:spAutoFit/>
                </a:bodyPr>
                <a:lstStyle/>
                <a:p>
                  <a:pPr algn="r"/>
                  <a:r>
                    <a:rPr lang="en-US" sz="1600" dirty="0">
                      <a:latin typeface="Helvetica"/>
                      <a:cs typeface="Helvetica"/>
                    </a:rPr>
                    <a:t>Memory</a:t>
                  </a:r>
                </a:p>
              </p:txBody>
            </p:sp>
            <p:sp>
              <p:nvSpPr>
                <p:cNvPr id="31" name="TextBox 30"/>
                <p:cNvSpPr txBox="1"/>
                <p:nvPr/>
              </p:nvSpPr>
              <p:spPr>
                <a:xfrm>
                  <a:off x="4043898" y="4557814"/>
                  <a:ext cx="777677" cy="338554"/>
                </a:xfrm>
                <a:prstGeom prst="rect">
                  <a:avLst/>
                </a:prstGeom>
                <a:noFill/>
              </p:spPr>
              <p:txBody>
                <a:bodyPr wrap="none" rtlCol="0">
                  <a:spAutoFit/>
                </a:bodyPr>
                <a:lstStyle/>
                <a:p>
                  <a:pPr algn="r"/>
                  <a:r>
                    <a:rPr lang="en-US" sz="1600" dirty="0">
                      <a:solidFill>
                        <a:srgbClr val="00FF00"/>
                      </a:solidFill>
                      <a:latin typeface="Helvetica"/>
                      <a:cs typeface="Helvetica"/>
                    </a:rPr>
                    <a:t>Future</a:t>
                  </a:r>
                </a:p>
              </p:txBody>
            </p:sp>
            <p:sp>
              <p:nvSpPr>
                <p:cNvPr id="32" name="TextBox 31"/>
                <p:cNvSpPr txBox="1"/>
                <p:nvPr/>
              </p:nvSpPr>
              <p:spPr>
                <a:xfrm>
                  <a:off x="4291061" y="4798311"/>
                  <a:ext cx="530514" cy="338554"/>
                </a:xfrm>
                <a:prstGeom prst="rect">
                  <a:avLst/>
                </a:prstGeom>
                <a:noFill/>
              </p:spPr>
              <p:txBody>
                <a:bodyPr wrap="none" rtlCol="0">
                  <a:spAutoFit/>
                </a:bodyPr>
                <a:lstStyle/>
                <a:p>
                  <a:pPr algn="r"/>
                  <a:r>
                    <a:rPr lang="en-US" sz="1600" dirty="0">
                      <a:solidFill>
                        <a:srgbClr val="00FF00"/>
                      </a:solidFill>
                      <a:latin typeface="Helvetica"/>
                      <a:cs typeface="Helvetica"/>
                    </a:rPr>
                    <a:t>Trip</a:t>
                  </a:r>
                </a:p>
              </p:txBody>
            </p:sp>
            <p:sp>
              <p:nvSpPr>
                <p:cNvPr id="33" name="TextBox 32"/>
                <p:cNvSpPr txBox="1"/>
                <p:nvPr/>
              </p:nvSpPr>
              <p:spPr>
                <a:xfrm>
                  <a:off x="4043898" y="5067331"/>
                  <a:ext cx="777677" cy="338554"/>
                </a:xfrm>
                <a:prstGeom prst="rect">
                  <a:avLst/>
                </a:prstGeom>
                <a:noFill/>
              </p:spPr>
              <p:txBody>
                <a:bodyPr wrap="none" rtlCol="0">
                  <a:spAutoFit/>
                </a:bodyPr>
                <a:lstStyle/>
                <a:p>
                  <a:pPr algn="r"/>
                  <a:r>
                    <a:rPr lang="en-US" sz="1600" dirty="0">
                      <a:solidFill>
                        <a:srgbClr val="00FF00"/>
                      </a:solidFill>
                      <a:latin typeface="Helvetica"/>
                      <a:cs typeface="Helvetica"/>
                    </a:rPr>
                    <a:t>Father</a:t>
                  </a:r>
                </a:p>
              </p:txBody>
            </p:sp>
            <p:sp>
              <p:nvSpPr>
                <p:cNvPr id="34" name="TextBox 33"/>
                <p:cNvSpPr txBox="1"/>
                <p:nvPr/>
              </p:nvSpPr>
              <p:spPr>
                <a:xfrm>
                  <a:off x="4135169" y="5319698"/>
                  <a:ext cx="686406" cy="338554"/>
                </a:xfrm>
                <a:prstGeom prst="rect">
                  <a:avLst/>
                </a:prstGeom>
                <a:noFill/>
              </p:spPr>
              <p:txBody>
                <a:bodyPr wrap="none" rtlCol="0">
                  <a:spAutoFit/>
                </a:bodyPr>
                <a:lstStyle/>
                <a:p>
                  <a:pPr algn="r"/>
                  <a:r>
                    <a:rPr lang="en-US" sz="1600" dirty="0">
                      <a:solidFill>
                        <a:srgbClr val="00FF00"/>
                      </a:solidFill>
                      <a:latin typeface="Helvetica"/>
                      <a:cs typeface="Helvetica"/>
                    </a:rPr>
                    <a:t>Heart</a:t>
                  </a:r>
                </a:p>
              </p:txBody>
            </p:sp>
            <p:sp>
              <p:nvSpPr>
                <p:cNvPr id="35" name="TextBox 34"/>
                <p:cNvSpPr txBox="1"/>
                <p:nvPr/>
              </p:nvSpPr>
              <p:spPr>
                <a:xfrm>
                  <a:off x="3941005" y="5590377"/>
                  <a:ext cx="880570" cy="338554"/>
                </a:xfrm>
                <a:prstGeom prst="rect">
                  <a:avLst/>
                </a:prstGeom>
                <a:noFill/>
              </p:spPr>
              <p:txBody>
                <a:bodyPr wrap="none" rtlCol="0">
                  <a:spAutoFit/>
                </a:bodyPr>
                <a:lstStyle/>
                <a:p>
                  <a:pPr algn="r"/>
                  <a:r>
                    <a:rPr lang="en-US" sz="1600" dirty="0">
                      <a:solidFill>
                        <a:srgbClr val="00FF00"/>
                      </a:solidFill>
                      <a:latin typeface="Helvetica"/>
                      <a:cs typeface="Helvetica"/>
                    </a:rPr>
                    <a:t>Spouse</a:t>
                  </a:r>
                </a:p>
              </p:txBody>
            </p:sp>
            <p:sp>
              <p:nvSpPr>
                <p:cNvPr id="36" name="TextBox 35"/>
                <p:cNvSpPr txBox="1"/>
                <p:nvPr/>
              </p:nvSpPr>
              <p:spPr>
                <a:xfrm>
                  <a:off x="3838413" y="5854614"/>
                  <a:ext cx="983162" cy="338554"/>
                </a:xfrm>
                <a:prstGeom prst="rect">
                  <a:avLst/>
                </a:prstGeom>
                <a:noFill/>
              </p:spPr>
              <p:txBody>
                <a:bodyPr wrap="none" rtlCol="0">
                  <a:spAutoFit/>
                </a:bodyPr>
                <a:lstStyle/>
                <a:p>
                  <a:pPr algn="r"/>
                  <a:r>
                    <a:rPr lang="en-US" sz="1600" dirty="0">
                      <a:solidFill>
                        <a:srgbClr val="00FF00"/>
                      </a:solidFill>
                      <a:latin typeface="Helvetica"/>
                      <a:cs typeface="Helvetica"/>
                    </a:rPr>
                    <a:t>Beautiful</a:t>
                  </a:r>
                </a:p>
              </p:txBody>
            </p:sp>
            <p:sp>
              <p:nvSpPr>
                <p:cNvPr id="37" name="TextBox 36"/>
                <p:cNvSpPr txBox="1"/>
                <p:nvPr/>
              </p:nvSpPr>
              <p:spPr>
                <a:xfrm>
                  <a:off x="4283617" y="6115754"/>
                  <a:ext cx="538028" cy="338554"/>
                </a:xfrm>
                <a:prstGeom prst="rect">
                  <a:avLst/>
                </a:prstGeom>
                <a:noFill/>
              </p:spPr>
              <p:txBody>
                <a:bodyPr wrap="none" rtlCol="0">
                  <a:spAutoFit/>
                </a:bodyPr>
                <a:lstStyle/>
                <a:p>
                  <a:pPr algn="r"/>
                  <a:r>
                    <a:rPr lang="en-US" sz="1600" dirty="0">
                      <a:solidFill>
                        <a:srgbClr val="00FF00"/>
                      </a:solidFill>
                      <a:latin typeface="Helvetica"/>
                      <a:cs typeface="Helvetica"/>
                    </a:rPr>
                    <a:t>Win</a:t>
                  </a:r>
                </a:p>
              </p:txBody>
            </p:sp>
          </p:grpSp>
          <p:sp>
            <p:nvSpPr>
              <p:cNvPr id="40" name="TextBox 39"/>
              <p:cNvSpPr txBox="1"/>
              <p:nvPr/>
            </p:nvSpPr>
            <p:spPr>
              <a:xfrm>
                <a:off x="4591563" y="6358637"/>
                <a:ext cx="284515" cy="307777"/>
              </a:xfrm>
              <a:prstGeom prst="rect">
                <a:avLst/>
              </a:prstGeom>
              <a:noFill/>
            </p:spPr>
            <p:txBody>
              <a:bodyPr wrap="none" rtlCol="0">
                <a:spAutoFit/>
              </a:bodyPr>
              <a:lstStyle/>
              <a:p>
                <a:r>
                  <a:rPr lang="en-US" sz="1400" dirty="0">
                    <a:latin typeface="Helvetica"/>
                    <a:cs typeface="Helvetica"/>
                  </a:rPr>
                  <a:t>0</a:t>
                </a:r>
              </a:p>
            </p:txBody>
          </p:sp>
          <p:sp>
            <p:nvSpPr>
              <p:cNvPr id="41" name="TextBox 40"/>
              <p:cNvSpPr txBox="1"/>
              <p:nvPr/>
            </p:nvSpPr>
            <p:spPr>
              <a:xfrm>
                <a:off x="5479887" y="6356727"/>
                <a:ext cx="284515" cy="307777"/>
              </a:xfrm>
              <a:prstGeom prst="rect">
                <a:avLst/>
              </a:prstGeom>
              <a:noFill/>
            </p:spPr>
            <p:txBody>
              <a:bodyPr wrap="none" rtlCol="0">
                <a:spAutoFit/>
              </a:bodyPr>
              <a:lstStyle/>
              <a:p>
                <a:r>
                  <a:rPr lang="en-US" sz="1400" dirty="0">
                    <a:latin typeface="Helvetica"/>
                    <a:cs typeface="Helvetica"/>
                  </a:rPr>
                  <a:t>2</a:t>
                </a:r>
              </a:p>
            </p:txBody>
          </p:sp>
          <p:sp>
            <p:nvSpPr>
              <p:cNvPr id="42" name="TextBox 41"/>
              <p:cNvSpPr txBox="1"/>
              <p:nvPr/>
            </p:nvSpPr>
            <p:spPr>
              <a:xfrm>
                <a:off x="6344637" y="6362334"/>
                <a:ext cx="284515" cy="307777"/>
              </a:xfrm>
              <a:prstGeom prst="rect">
                <a:avLst/>
              </a:prstGeom>
              <a:noFill/>
            </p:spPr>
            <p:txBody>
              <a:bodyPr wrap="none" rtlCol="0">
                <a:spAutoFit/>
              </a:bodyPr>
              <a:lstStyle/>
              <a:p>
                <a:r>
                  <a:rPr lang="en-US" sz="1400" dirty="0">
                    <a:latin typeface="Helvetica"/>
                    <a:cs typeface="Helvetica"/>
                  </a:rPr>
                  <a:t>4</a:t>
                </a:r>
              </a:p>
            </p:txBody>
          </p:sp>
          <p:sp>
            <p:nvSpPr>
              <p:cNvPr id="43" name="TextBox 42"/>
              <p:cNvSpPr txBox="1"/>
              <p:nvPr/>
            </p:nvSpPr>
            <p:spPr>
              <a:xfrm>
                <a:off x="7221075" y="6360424"/>
                <a:ext cx="284515" cy="307777"/>
              </a:xfrm>
              <a:prstGeom prst="rect">
                <a:avLst/>
              </a:prstGeom>
              <a:noFill/>
            </p:spPr>
            <p:txBody>
              <a:bodyPr wrap="none" rtlCol="0">
                <a:spAutoFit/>
              </a:bodyPr>
              <a:lstStyle/>
              <a:p>
                <a:r>
                  <a:rPr lang="en-US" sz="1400" dirty="0">
                    <a:latin typeface="Helvetica"/>
                    <a:cs typeface="Helvetica"/>
                  </a:rPr>
                  <a:t>6</a:t>
                </a:r>
              </a:p>
            </p:txBody>
          </p:sp>
          <p:sp>
            <p:nvSpPr>
              <p:cNvPr id="44" name="TextBox 43"/>
              <p:cNvSpPr txBox="1"/>
              <p:nvPr/>
            </p:nvSpPr>
            <p:spPr>
              <a:xfrm>
                <a:off x="8115329" y="6362655"/>
                <a:ext cx="284515" cy="307777"/>
              </a:xfrm>
              <a:prstGeom prst="rect">
                <a:avLst/>
              </a:prstGeom>
              <a:noFill/>
            </p:spPr>
            <p:txBody>
              <a:bodyPr wrap="none" rtlCol="0">
                <a:spAutoFit/>
              </a:bodyPr>
              <a:lstStyle/>
              <a:p>
                <a:r>
                  <a:rPr lang="en-US" sz="1400" dirty="0">
                    <a:latin typeface="Helvetica"/>
                    <a:cs typeface="Helvetica"/>
                  </a:rPr>
                  <a:t>8</a:t>
                </a:r>
              </a:p>
            </p:txBody>
          </p:sp>
          <p:sp>
            <p:nvSpPr>
              <p:cNvPr id="45" name="TextBox 44"/>
              <p:cNvSpPr txBox="1"/>
              <p:nvPr/>
            </p:nvSpPr>
            <p:spPr>
              <a:xfrm>
                <a:off x="5031805" y="6364446"/>
                <a:ext cx="284515" cy="307777"/>
              </a:xfrm>
              <a:prstGeom prst="rect">
                <a:avLst/>
              </a:prstGeom>
              <a:noFill/>
            </p:spPr>
            <p:txBody>
              <a:bodyPr wrap="none" rtlCol="0">
                <a:spAutoFit/>
              </a:bodyPr>
              <a:lstStyle/>
              <a:p>
                <a:r>
                  <a:rPr lang="en-US" sz="1400" dirty="0">
                    <a:latin typeface="Helvetica"/>
                    <a:cs typeface="Helvetica"/>
                  </a:rPr>
                  <a:t>1</a:t>
                </a:r>
              </a:p>
            </p:txBody>
          </p:sp>
          <p:sp>
            <p:nvSpPr>
              <p:cNvPr id="46" name="TextBox 45"/>
              <p:cNvSpPr txBox="1"/>
              <p:nvPr/>
            </p:nvSpPr>
            <p:spPr>
              <a:xfrm>
                <a:off x="5909970" y="6362334"/>
                <a:ext cx="284515" cy="307777"/>
              </a:xfrm>
              <a:prstGeom prst="rect">
                <a:avLst/>
              </a:prstGeom>
              <a:noFill/>
            </p:spPr>
            <p:txBody>
              <a:bodyPr wrap="none" rtlCol="0">
                <a:spAutoFit/>
              </a:bodyPr>
              <a:lstStyle/>
              <a:p>
                <a:r>
                  <a:rPr lang="en-US" sz="1400" dirty="0">
                    <a:latin typeface="Helvetica"/>
                    <a:cs typeface="Helvetica"/>
                  </a:rPr>
                  <a:t>3</a:t>
                </a:r>
              </a:p>
            </p:txBody>
          </p:sp>
          <p:sp>
            <p:nvSpPr>
              <p:cNvPr id="47" name="TextBox 46"/>
              <p:cNvSpPr txBox="1"/>
              <p:nvPr/>
            </p:nvSpPr>
            <p:spPr>
              <a:xfrm>
                <a:off x="6788135" y="6362334"/>
                <a:ext cx="284515" cy="307777"/>
              </a:xfrm>
              <a:prstGeom prst="rect">
                <a:avLst/>
              </a:prstGeom>
              <a:noFill/>
            </p:spPr>
            <p:txBody>
              <a:bodyPr wrap="none" rtlCol="0">
                <a:spAutoFit/>
              </a:bodyPr>
              <a:lstStyle/>
              <a:p>
                <a:r>
                  <a:rPr lang="en-US" sz="1400" dirty="0">
                    <a:latin typeface="Helvetica"/>
                    <a:cs typeface="Helvetica"/>
                  </a:rPr>
                  <a:t>5</a:t>
                </a:r>
              </a:p>
            </p:txBody>
          </p:sp>
          <p:sp>
            <p:nvSpPr>
              <p:cNvPr id="48" name="TextBox 47"/>
              <p:cNvSpPr txBox="1"/>
              <p:nvPr/>
            </p:nvSpPr>
            <p:spPr>
              <a:xfrm>
                <a:off x="7676623" y="6362334"/>
                <a:ext cx="287258" cy="307777"/>
              </a:xfrm>
              <a:prstGeom prst="rect">
                <a:avLst/>
              </a:prstGeom>
              <a:noFill/>
            </p:spPr>
            <p:txBody>
              <a:bodyPr wrap="none" rtlCol="0">
                <a:spAutoFit/>
              </a:bodyPr>
              <a:lstStyle/>
              <a:p>
                <a:r>
                  <a:rPr lang="en-US" sz="1400" dirty="0">
                    <a:latin typeface="Helvetica"/>
                    <a:cs typeface="Helvetica"/>
                  </a:rPr>
                  <a:t>7</a:t>
                </a:r>
              </a:p>
            </p:txBody>
          </p:sp>
          <p:sp>
            <p:nvSpPr>
              <p:cNvPr id="49" name="TextBox 48"/>
              <p:cNvSpPr txBox="1"/>
              <p:nvPr/>
            </p:nvSpPr>
            <p:spPr>
              <a:xfrm>
                <a:off x="8536552" y="6360424"/>
                <a:ext cx="287258" cy="307777"/>
              </a:xfrm>
              <a:prstGeom prst="rect">
                <a:avLst/>
              </a:prstGeom>
              <a:noFill/>
            </p:spPr>
            <p:txBody>
              <a:bodyPr wrap="none" rtlCol="0">
                <a:spAutoFit/>
              </a:bodyPr>
              <a:lstStyle/>
              <a:p>
                <a:r>
                  <a:rPr lang="en-US" sz="1400" dirty="0">
                    <a:latin typeface="Helvetica"/>
                    <a:cs typeface="Helvetica"/>
                  </a:rPr>
                  <a:t>9</a:t>
                </a:r>
              </a:p>
            </p:txBody>
          </p:sp>
          <p:sp>
            <p:nvSpPr>
              <p:cNvPr id="51" name="TextBox 50"/>
              <p:cNvSpPr txBox="1"/>
              <p:nvPr/>
            </p:nvSpPr>
            <p:spPr>
              <a:xfrm>
                <a:off x="5594822" y="949736"/>
                <a:ext cx="915635" cy="338554"/>
              </a:xfrm>
              <a:prstGeom prst="rect">
                <a:avLst/>
              </a:prstGeom>
              <a:noFill/>
            </p:spPr>
            <p:txBody>
              <a:bodyPr wrap="none" rtlCol="0">
                <a:spAutoFit/>
              </a:bodyPr>
              <a:lstStyle/>
              <a:p>
                <a:pPr algn="r"/>
                <a:r>
                  <a:rPr lang="en-US" sz="1600" dirty="0">
                    <a:latin typeface="Helvetica"/>
                    <a:cs typeface="Helvetica"/>
                  </a:rPr>
                  <a:t>Valence</a:t>
                </a:r>
              </a:p>
            </p:txBody>
          </p:sp>
          <p:sp>
            <p:nvSpPr>
              <p:cNvPr id="52" name="TextBox 51"/>
              <p:cNvSpPr txBox="1"/>
              <p:nvPr/>
            </p:nvSpPr>
            <p:spPr>
              <a:xfrm>
                <a:off x="7540856" y="718679"/>
                <a:ext cx="880369" cy="338554"/>
              </a:xfrm>
              <a:prstGeom prst="rect">
                <a:avLst/>
              </a:prstGeom>
              <a:noFill/>
            </p:spPr>
            <p:txBody>
              <a:bodyPr wrap="none" rtlCol="0">
                <a:spAutoFit/>
              </a:bodyPr>
              <a:lstStyle/>
              <a:p>
                <a:pPr algn="r"/>
                <a:r>
                  <a:rPr lang="en-US" sz="1600" dirty="0">
                    <a:latin typeface="Helvetica"/>
                    <a:cs typeface="Helvetica"/>
                  </a:rPr>
                  <a:t>Arousal</a:t>
                </a:r>
              </a:p>
            </p:txBody>
          </p:sp>
          <p:cxnSp>
            <p:nvCxnSpPr>
              <p:cNvPr id="54" name="Straight Arrow Connector 53"/>
              <p:cNvCxnSpPr/>
              <p:nvPr/>
            </p:nvCxnSpPr>
            <p:spPr>
              <a:xfrm flipH="1">
                <a:off x="5909970" y="1288290"/>
                <a:ext cx="284515" cy="523769"/>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a:off x="7676623" y="1026405"/>
                <a:ext cx="326425" cy="362408"/>
              </a:xfrm>
              <a:prstGeom prst="straightConnector1">
                <a:avLst/>
              </a:prstGeom>
              <a:ln>
                <a:solidFill>
                  <a:srgbClr val="000000"/>
                </a:solidFill>
                <a:tailEnd type="arrow"/>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591563" y="6577684"/>
                <a:ext cx="1390124" cy="523220"/>
              </a:xfrm>
              <a:prstGeom prst="rect">
                <a:avLst/>
              </a:prstGeom>
              <a:noFill/>
            </p:spPr>
            <p:txBody>
              <a:bodyPr wrap="none" rtlCol="0">
                <a:spAutoFit/>
              </a:bodyPr>
              <a:lstStyle/>
              <a:p>
                <a:r>
                  <a:rPr lang="en-US" sz="1400" dirty="0">
                    <a:latin typeface="Helvetica"/>
                    <a:cs typeface="Helvetica"/>
                  </a:rPr>
                  <a:t>Most Negative/</a:t>
                </a:r>
              </a:p>
              <a:p>
                <a:r>
                  <a:rPr lang="en-US" sz="1400" dirty="0">
                    <a:latin typeface="Helvetica"/>
                    <a:cs typeface="Helvetica"/>
                  </a:rPr>
                  <a:t>Least Arousal</a:t>
                </a:r>
              </a:p>
            </p:txBody>
          </p:sp>
          <p:sp>
            <p:nvSpPr>
              <p:cNvPr id="58" name="TextBox 57"/>
              <p:cNvSpPr txBox="1"/>
              <p:nvPr/>
            </p:nvSpPr>
            <p:spPr>
              <a:xfrm>
                <a:off x="7467747" y="6577373"/>
                <a:ext cx="1313180" cy="523220"/>
              </a:xfrm>
              <a:prstGeom prst="rect">
                <a:avLst/>
              </a:prstGeom>
              <a:noFill/>
            </p:spPr>
            <p:txBody>
              <a:bodyPr wrap="none" rtlCol="0">
                <a:spAutoFit/>
              </a:bodyPr>
              <a:lstStyle/>
              <a:p>
                <a:pPr algn="r"/>
                <a:r>
                  <a:rPr lang="en-US" sz="1400" dirty="0">
                    <a:latin typeface="Helvetica"/>
                    <a:cs typeface="Helvetica"/>
                  </a:rPr>
                  <a:t>Most Positive/</a:t>
                </a:r>
              </a:p>
              <a:p>
                <a:pPr algn="r"/>
                <a:r>
                  <a:rPr lang="en-US" sz="1400" dirty="0">
                    <a:latin typeface="Helvetica"/>
                    <a:cs typeface="Helvetica"/>
                  </a:rPr>
                  <a:t>Most Arousal</a:t>
                </a:r>
              </a:p>
            </p:txBody>
          </p:sp>
        </p:grpSp>
      </p:grpSp>
      <p:sp>
        <p:nvSpPr>
          <p:cNvPr id="61" name="Rectangle 60"/>
          <p:cNvSpPr/>
          <p:nvPr/>
        </p:nvSpPr>
        <p:spPr>
          <a:xfrm>
            <a:off x="99027" y="2867566"/>
            <a:ext cx="3768546" cy="1200329"/>
          </a:xfrm>
          <a:prstGeom prst="rect">
            <a:avLst/>
          </a:prstGeom>
        </p:spPr>
        <p:txBody>
          <a:bodyPr wrap="square">
            <a:spAutoFit/>
          </a:bodyPr>
          <a:lstStyle/>
          <a:p>
            <a:r>
              <a:rPr lang="en-US" dirty="0">
                <a:latin typeface="Helvetica"/>
                <a:cs typeface="Helvetica"/>
              </a:rPr>
              <a:t>After fMRI session, participants rate all 21 seed concepts on valence, arousal, and value/ personal importance</a:t>
            </a:r>
          </a:p>
        </p:txBody>
      </p:sp>
      <p:sp>
        <p:nvSpPr>
          <p:cNvPr id="53" name="Rectangle 52"/>
          <p:cNvSpPr/>
          <p:nvPr/>
        </p:nvSpPr>
        <p:spPr>
          <a:xfrm>
            <a:off x="99026" y="1667171"/>
            <a:ext cx="3768546" cy="923330"/>
          </a:xfrm>
          <a:prstGeom prst="rect">
            <a:avLst/>
          </a:prstGeom>
        </p:spPr>
        <p:txBody>
          <a:bodyPr wrap="square">
            <a:spAutoFit/>
          </a:bodyPr>
          <a:lstStyle/>
          <a:p>
            <a:r>
              <a:rPr lang="en-US" dirty="0">
                <a:latin typeface="Helvetica"/>
                <a:cs typeface="Helvetica"/>
              </a:rPr>
              <a:t>For each seed word, participants given 3s to generate each of 10 consecutive associations </a:t>
            </a:r>
          </a:p>
        </p:txBody>
      </p:sp>
    </p:spTree>
    <p:extLst>
      <p:ext uri="{BB962C8B-B14F-4D97-AF65-F5344CB8AC3E}">
        <p14:creationId xmlns:p14="http://schemas.microsoft.com/office/powerpoint/2010/main" val="1859585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535101"/>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400" dirty="0">
                <a:solidFill>
                  <a:srgbClr val="FFFF00"/>
                </a:solidFill>
                <a:latin typeface="Helvetica"/>
                <a:cs typeface="Helvetica"/>
              </a:rPr>
              <a:t>Semantic Free Association Task</a:t>
            </a:r>
          </a:p>
        </p:txBody>
      </p:sp>
      <p:cxnSp>
        <p:nvCxnSpPr>
          <p:cNvPr id="7" name="Straight Connector 6"/>
          <p:cNvCxnSpPr/>
          <p:nvPr/>
        </p:nvCxnSpPr>
        <p:spPr>
          <a:xfrm>
            <a:off x="0" y="53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22" name="Rectangle 21"/>
          <p:cNvSpPr/>
          <p:nvPr/>
        </p:nvSpPr>
        <p:spPr>
          <a:xfrm>
            <a:off x="5080091" y="1002398"/>
            <a:ext cx="3365236" cy="24498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88" name="Group 87"/>
          <p:cNvGrpSpPr/>
          <p:nvPr/>
        </p:nvGrpSpPr>
        <p:grpSpPr>
          <a:xfrm>
            <a:off x="1592443" y="761559"/>
            <a:ext cx="7432905" cy="4750608"/>
            <a:chOff x="1592443" y="761559"/>
            <a:chExt cx="7432905" cy="4750608"/>
          </a:xfrm>
        </p:grpSpPr>
        <p:sp>
          <p:nvSpPr>
            <p:cNvPr id="10" name="Rectangle 9"/>
            <p:cNvSpPr/>
            <p:nvPr/>
          </p:nvSpPr>
          <p:spPr>
            <a:xfrm>
              <a:off x="1592443" y="761559"/>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00" dirty="0">
                  <a:latin typeface="Arial"/>
                  <a:cs typeface="Arial"/>
                </a:rPr>
                <a:t>FAILURE</a:t>
              </a:r>
            </a:p>
          </p:txBody>
        </p:sp>
        <p:sp>
          <p:nvSpPr>
            <p:cNvPr id="11" name="Rectangle 10"/>
            <p:cNvSpPr/>
            <p:nvPr/>
          </p:nvSpPr>
          <p:spPr>
            <a:xfrm>
              <a:off x="2085326" y="1308123"/>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12" name="Oval Callout 11"/>
            <p:cNvSpPr/>
            <p:nvPr/>
          </p:nvSpPr>
          <p:spPr>
            <a:xfrm>
              <a:off x="2487760" y="800171"/>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err="1">
                  <a:solidFill>
                    <a:srgbClr val="000000"/>
                  </a:solidFill>
                  <a:latin typeface="Arial"/>
                  <a:cs typeface="Arial"/>
                </a:rPr>
                <a:t>dissapointment</a:t>
              </a:r>
              <a:endParaRPr lang="en-US" sz="1000" dirty="0">
                <a:solidFill>
                  <a:srgbClr val="000000"/>
                </a:solidFill>
                <a:latin typeface="Arial"/>
                <a:cs typeface="Arial"/>
              </a:endParaRPr>
            </a:p>
          </p:txBody>
        </p:sp>
        <p:pic>
          <p:nvPicPr>
            <p:cNvPr id="13" name="Picture 12"/>
            <p:cNvPicPr>
              <a:picLocks noChangeAspect="1"/>
            </p:cNvPicPr>
            <p:nvPr/>
          </p:nvPicPr>
          <p:blipFill>
            <a:blip r:embed="rId2"/>
            <a:stretch>
              <a:fillRect/>
            </a:stretch>
          </p:blipFill>
          <p:spPr>
            <a:xfrm>
              <a:off x="2378482" y="1557057"/>
              <a:ext cx="317006" cy="413176"/>
            </a:xfrm>
            <a:prstGeom prst="rect">
              <a:avLst/>
            </a:prstGeom>
          </p:spPr>
        </p:pic>
        <p:sp>
          <p:nvSpPr>
            <p:cNvPr id="14" name="Rectangle 13"/>
            <p:cNvSpPr/>
            <p:nvPr/>
          </p:nvSpPr>
          <p:spPr>
            <a:xfrm>
              <a:off x="2695488" y="1665433"/>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15" name="Oval Callout 14"/>
            <p:cNvSpPr/>
            <p:nvPr/>
          </p:nvSpPr>
          <p:spPr>
            <a:xfrm>
              <a:off x="3097922" y="1157481"/>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rgbClr val="000000"/>
                  </a:solidFill>
                  <a:latin typeface="Arial"/>
                  <a:cs typeface="Arial"/>
                </a:rPr>
                <a:t>wrongful</a:t>
              </a:r>
              <a:endParaRPr lang="en-US" sz="1000" dirty="0"/>
            </a:p>
          </p:txBody>
        </p:sp>
        <p:pic>
          <p:nvPicPr>
            <p:cNvPr id="16" name="Picture 15"/>
            <p:cNvPicPr>
              <a:picLocks noChangeAspect="1"/>
            </p:cNvPicPr>
            <p:nvPr/>
          </p:nvPicPr>
          <p:blipFill>
            <a:blip r:embed="rId2"/>
            <a:stretch>
              <a:fillRect/>
            </a:stretch>
          </p:blipFill>
          <p:spPr>
            <a:xfrm>
              <a:off x="2988644" y="1914367"/>
              <a:ext cx="317006" cy="413176"/>
            </a:xfrm>
            <a:prstGeom prst="rect">
              <a:avLst/>
            </a:prstGeom>
          </p:spPr>
        </p:pic>
        <p:sp>
          <p:nvSpPr>
            <p:cNvPr id="17" name="Rectangle 16"/>
            <p:cNvSpPr/>
            <p:nvPr/>
          </p:nvSpPr>
          <p:spPr>
            <a:xfrm>
              <a:off x="3305650" y="2022743"/>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18" name="Oval Callout 17"/>
            <p:cNvSpPr/>
            <p:nvPr/>
          </p:nvSpPr>
          <p:spPr>
            <a:xfrm>
              <a:off x="3708084" y="1514791"/>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hateful</a:t>
              </a:r>
            </a:p>
          </p:txBody>
        </p:sp>
        <p:pic>
          <p:nvPicPr>
            <p:cNvPr id="19" name="Picture 18"/>
            <p:cNvPicPr>
              <a:picLocks noChangeAspect="1"/>
            </p:cNvPicPr>
            <p:nvPr/>
          </p:nvPicPr>
          <p:blipFill>
            <a:blip r:embed="rId2"/>
            <a:stretch>
              <a:fillRect/>
            </a:stretch>
          </p:blipFill>
          <p:spPr>
            <a:xfrm>
              <a:off x="3598806" y="2271677"/>
              <a:ext cx="317006" cy="413176"/>
            </a:xfrm>
            <a:prstGeom prst="rect">
              <a:avLst/>
            </a:prstGeom>
          </p:spPr>
        </p:pic>
        <p:sp>
          <p:nvSpPr>
            <p:cNvPr id="20" name="Rectangle 19"/>
            <p:cNvSpPr/>
            <p:nvPr/>
          </p:nvSpPr>
          <p:spPr>
            <a:xfrm>
              <a:off x="3915812" y="2414385"/>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21" name="Oval Callout 20"/>
            <p:cNvSpPr/>
            <p:nvPr/>
          </p:nvSpPr>
          <p:spPr>
            <a:xfrm>
              <a:off x="4318246" y="1906433"/>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letdown</a:t>
              </a:r>
            </a:p>
          </p:txBody>
        </p:sp>
        <p:pic>
          <p:nvPicPr>
            <p:cNvPr id="23" name="Picture 22"/>
            <p:cNvPicPr>
              <a:picLocks noChangeAspect="1"/>
            </p:cNvPicPr>
            <p:nvPr/>
          </p:nvPicPr>
          <p:blipFill>
            <a:blip r:embed="rId2"/>
            <a:stretch>
              <a:fillRect/>
            </a:stretch>
          </p:blipFill>
          <p:spPr>
            <a:xfrm>
              <a:off x="4208968" y="2663319"/>
              <a:ext cx="317006" cy="413176"/>
            </a:xfrm>
            <a:prstGeom prst="rect">
              <a:avLst/>
            </a:prstGeom>
          </p:spPr>
        </p:pic>
        <p:sp>
          <p:nvSpPr>
            <p:cNvPr id="24" name="Rectangle 23"/>
            <p:cNvSpPr/>
            <p:nvPr/>
          </p:nvSpPr>
          <p:spPr>
            <a:xfrm>
              <a:off x="4525974" y="2765352"/>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27" name="Oval Callout 26"/>
            <p:cNvSpPr/>
            <p:nvPr/>
          </p:nvSpPr>
          <p:spPr>
            <a:xfrm>
              <a:off x="4928408" y="2257400"/>
              <a:ext cx="1122128"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tomorrow</a:t>
              </a:r>
            </a:p>
          </p:txBody>
        </p:sp>
        <p:pic>
          <p:nvPicPr>
            <p:cNvPr id="28" name="Picture 27"/>
            <p:cNvPicPr>
              <a:picLocks noChangeAspect="1"/>
            </p:cNvPicPr>
            <p:nvPr/>
          </p:nvPicPr>
          <p:blipFill>
            <a:blip r:embed="rId2"/>
            <a:stretch>
              <a:fillRect/>
            </a:stretch>
          </p:blipFill>
          <p:spPr>
            <a:xfrm>
              <a:off x="4819130" y="3014286"/>
              <a:ext cx="317006" cy="413176"/>
            </a:xfrm>
            <a:prstGeom prst="rect">
              <a:avLst/>
            </a:prstGeom>
          </p:spPr>
        </p:pic>
        <p:sp>
          <p:nvSpPr>
            <p:cNvPr id="29" name="Rectangle 28"/>
            <p:cNvSpPr/>
            <p:nvPr/>
          </p:nvSpPr>
          <p:spPr>
            <a:xfrm>
              <a:off x="5136136" y="3104801"/>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30" name="Oval Callout 29"/>
            <p:cNvSpPr/>
            <p:nvPr/>
          </p:nvSpPr>
          <p:spPr>
            <a:xfrm>
              <a:off x="5538570" y="2596849"/>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work</a:t>
              </a:r>
            </a:p>
          </p:txBody>
        </p:sp>
        <p:pic>
          <p:nvPicPr>
            <p:cNvPr id="31" name="Picture 30"/>
            <p:cNvPicPr>
              <a:picLocks noChangeAspect="1"/>
            </p:cNvPicPr>
            <p:nvPr/>
          </p:nvPicPr>
          <p:blipFill>
            <a:blip r:embed="rId2"/>
            <a:stretch>
              <a:fillRect/>
            </a:stretch>
          </p:blipFill>
          <p:spPr>
            <a:xfrm>
              <a:off x="5429292" y="3353735"/>
              <a:ext cx="317006" cy="413176"/>
            </a:xfrm>
            <a:prstGeom prst="rect">
              <a:avLst/>
            </a:prstGeom>
          </p:spPr>
        </p:pic>
        <p:sp>
          <p:nvSpPr>
            <p:cNvPr id="32" name="Rectangle 31"/>
            <p:cNvSpPr/>
            <p:nvPr/>
          </p:nvSpPr>
          <p:spPr>
            <a:xfrm>
              <a:off x="5746298" y="3427462"/>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33" name="Oval Callout 32"/>
            <p:cNvSpPr/>
            <p:nvPr/>
          </p:nvSpPr>
          <p:spPr>
            <a:xfrm>
              <a:off x="6148732" y="2919510"/>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work</a:t>
              </a:r>
            </a:p>
          </p:txBody>
        </p:sp>
        <p:pic>
          <p:nvPicPr>
            <p:cNvPr id="34" name="Picture 33"/>
            <p:cNvPicPr>
              <a:picLocks noChangeAspect="1"/>
            </p:cNvPicPr>
            <p:nvPr/>
          </p:nvPicPr>
          <p:blipFill>
            <a:blip r:embed="rId2"/>
            <a:stretch>
              <a:fillRect/>
            </a:stretch>
          </p:blipFill>
          <p:spPr>
            <a:xfrm>
              <a:off x="6039454" y="3676396"/>
              <a:ext cx="317006" cy="413176"/>
            </a:xfrm>
            <a:prstGeom prst="rect">
              <a:avLst/>
            </a:prstGeom>
          </p:spPr>
        </p:pic>
        <p:sp>
          <p:nvSpPr>
            <p:cNvPr id="35" name="Rectangle 34"/>
            <p:cNvSpPr/>
            <p:nvPr/>
          </p:nvSpPr>
          <p:spPr>
            <a:xfrm>
              <a:off x="6378659" y="3819189"/>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36" name="Oval Callout 35"/>
            <p:cNvSpPr/>
            <p:nvPr/>
          </p:nvSpPr>
          <p:spPr>
            <a:xfrm>
              <a:off x="6781093" y="3311237"/>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layoff</a:t>
              </a:r>
            </a:p>
          </p:txBody>
        </p:sp>
        <p:pic>
          <p:nvPicPr>
            <p:cNvPr id="37" name="Picture 36"/>
            <p:cNvPicPr>
              <a:picLocks noChangeAspect="1"/>
            </p:cNvPicPr>
            <p:nvPr/>
          </p:nvPicPr>
          <p:blipFill>
            <a:blip r:embed="rId2"/>
            <a:stretch>
              <a:fillRect/>
            </a:stretch>
          </p:blipFill>
          <p:spPr>
            <a:xfrm>
              <a:off x="6671815" y="4068123"/>
              <a:ext cx="317006" cy="413176"/>
            </a:xfrm>
            <a:prstGeom prst="rect">
              <a:avLst/>
            </a:prstGeom>
          </p:spPr>
        </p:pic>
        <p:sp>
          <p:nvSpPr>
            <p:cNvPr id="38" name="Rectangle 37"/>
            <p:cNvSpPr/>
            <p:nvPr/>
          </p:nvSpPr>
          <p:spPr>
            <a:xfrm>
              <a:off x="6988821" y="4233886"/>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39" name="Oval Callout 38"/>
            <p:cNvSpPr/>
            <p:nvPr/>
          </p:nvSpPr>
          <p:spPr>
            <a:xfrm>
              <a:off x="7391255" y="3725934"/>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layoff</a:t>
              </a:r>
            </a:p>
          </p:txBody>
        </p:sp>
        <p:pic>
          <p:nvPicPr>
            <p:cNvPr id="40" name="Picture 39"/>
            <p:cNvPicPr>
              <a:picLocks noChangeAspect="1"/>
            </p:cNvPicPr>
            <p:nvPr/>
          </p:nvPicPr>
          <p:blipFill>
            <a:blip r:embed="rId2"/>
            <a:stretch>
              <a:fillRect/>
            </a:stretch>
          </p:blipFill>
          <p:spPr>
            <a:xfrm>
              <a:off x="7281977" y="4482820"/>
              <a:ext cx="317006" cy="413176"/>
            </a:xfrm>
            <a:prstGeom prst="rect">
              <a:avLst/>
            </a:prstGeom>
          </p:spPr>
        </p:pic>
        <p:sp>
          <p:nvSpPr>
            <p:cNvPr id="41" name="Rectangle 40"/>
            <p:cNvSpPr/>
            <p:nvPr/>
          </p:nvSpPr>
          <p:spPr>
            <a:xfrm>
              <a:off x="7598983" y="4597767"/>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42" name="Oval Callout 41"/>
            <p:cNvSpPr/>
            <p:nvPr/>
          </p:nvSpPr>
          <p:spPr>
            <a:xfrm>
              <a:off x="8001417" y="4089815"/>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failure</a:t>
              </a:r>
            </a:p>
          </p:txBody>
        </p:sp>
        <p:pic>
          <p:nvPicPr>
            <p:cNvPr id="43" name="Picture 42"/>
            <p:cNvPicPr>
              <a:picLocks noChangeAspect="1"/>
            </p:cNvPicPr>
            <p:nvPr/>
          </p:nvPicPr>
          <p:blipFill>
            <a:blip r:embed="rId2"/>
            <a:stretch>
              <a:fillRect/>
            </a:stretch>
          </p:blipFill>
          <p:spPr>
            <a:xfrm>
              <a:off x="7892139" y="4846701"/>
              <a:ext cx="317006" cy="413176"/>
            </a:xfrm>
            <a:prstGeom prst="rect">
              <a:avLst/>
            </a:prstGeom>
          </p:spPr>
        </p:pic>
      </p:grpSp>
      <p:sp>
        <p:nvSpPr>
          <p:cNvPr id="45" name="Rectangle 44"/>
          <p:cNvSpPr/>
          <p:nvPr/>
        </p:nvSpPr>
        <p:spPr>
          <a:xfrm>
            <a:off x="118677" y="2092118"/>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700" dirty="0">
                <a:latin typeface="Arial"/>
                <a:cs typeface="Arial"/>
              </a:rPr>
              <a:t>FAILURE</a:t>
            </a:r>
          </a:p>
        </p:txBody>
      </p:sp>
      <p:grpSp>
        <p:nvGrpSpPr>
          <p:cNvPr id="78" name="Group 77"/>
          <p:cNvGrpSpPr/>
          <p:nvPr/>
        </p:nvGrpSpPr>
        <p:grpSpPr>
          <a:xfrm>
            <a:off x="611560" y="2130730"/>
            <a:ext cx="1426365" cy="1422352"/>
            <a:chOff x="611560" y="2130730"/>
            <a:chExt cx="1426365" cy="1422352"/>
          </a:xfrm>
        </p:grpSpPr>
        <p:sp>
          <p:nvSpPr>
            <p:cNvPr id="46" name="Rectangle 45"/>
            <p:cNvSpPr/>
            <p:nvPr/>
          </p:nvSpPr>
          <p:spPr>
            <a:xfrm>
              <a:off x="611560" y="2638682"/>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47" name="Oval Callout 46"/>
            <p:cNvSpPr/>
            <p:nvPr/>
          </p:nvSpPr>
          <p:spPr>
            <a:xfrm>
              <a:off x="1013994" y="2130730"/>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rgbClr val="000000"/>
                  </a:solidFill>
                  <a:latin typeface="Arial"/>
                  <a:cs typeface="Arial"/>
                </a:rPr>
                <a:t>lose</a:t>
              </a:r>
            </a:p>
          </p:txBody>
        </p:sp>
        <p:pic>
          <p:nvPicPr>
            <p:cNvPr id="48" name="Picture 47"/>
            <p:cNvPicPr>
              <a:picLocks noChangeAspect="1"/>
            </p:cNvPicPr>
            <p:nvPr/>
          </p:nvPicPr>
          <p:blipFill>
            <a:blip r:embed="rId2"/>
            <a:stretch>
              <a:fillRect/>
            </a:stretch>
          </p:blipFill>
          <p:spPr>
            <a:xfrm>
              <a:off x="904716" y="2887616"/>
              <a:ext cx="317006" cy="413176"/>
            </a:xfrm>
            <a:prstGeom prst="rect">
              <a:avLst/>
            </a:prstGeom>
          </p:spPr>
        </p:pic>
      </p:grpSp>
      <p:grpSp>
        <p:nvGrpSpPr>
          <p:cNvPr id="79" name="Group 78"/>
          <p:cNvGrpSpPr/>
          <p:nvPr/>
        </p:nvGrpSpPr>
        <p:grpSpPr>
          <a:xfrm>
            <a:off x="1221722" y="2488040"/>
            <a:ext cx="1426365" cy="1422352"/>
            <a:chOff x="1221722" y="2488040"/>
            <a:chExt cx="1426365" cy="1422352"/>
          </a:xfrm>
        </p:grpSpPr>
        <p:sp>
          <p:nvSpPr>
            <p:cNvPr id="49" name="Rectangle 48"/>
            <p:cNvSpPr/>
            <p:nvPr/>
          </p:nvSpPr>
          <p:spPr>
            <a:xfrm>
              <a:off x="1221722" y="2995992"/>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50" name="Oval Callout 49"/>
            <p:cNvSpPr/>
            <p:nvPr/>
          </p:nvSpPr>
          <p:spPr>
            <a:xfrm>
              <a:off x="1624156" y="2488040"/>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dirty="0">
                  <a:solidFill>
                    <a:srgbClr val="000000"/>
                  </a:solidFill>
                  <a:latin typeface="Arial"/>
                  <a:cs typeface="Arial"/>
                </a:rPr>
                <a:t>disappointment</a:t>
              </a:r>
              <a:endParaRPr lang="en-US" sz="1000" dirty="0"/>
            </a:p>
          </p:txBody>
        </p:sp>
        <p:pic>
          <p:nvPicPr>
            <p:cNvPr id="51" name="Picture 50"/>
            <p:cNvPicPr>
              <a:picLocks noChangeAspect="1"/>
            </p:cNvPicPr>
            <p:nvPr/>
          </p:nvPicPr>
          <p:blipFill>
            <a:blip r:embed="rId2"/>
            <a:stretch>
              <a:fillRect/>
            </a:stretch>
          </p:blipFill>
          <p:spPr>
            <a:xfrm>
              <a:off x="1514878" y="3244926"/>
              <a:ext cx="317006" cy="413176"/>
            </a:xfrm>
            <a:prstGeom prst="rect">
              <a:avLst/>
            </a:prstGeom>
          </p:spPr>
        </p:pic>
      </p:grpSp>
      <p:grpSp>
        <p:nvGrpSpPr>
          <p:cNvPr id="80" name="Group 79"/>
          <p:cNvGrpSpPr/>
          <p:nvPr/>
        </p:nvGrpSpPr>
        <p:grpSpPr>
          <a:xfrm>
            <a:off x="1831884" y="2845350"/>
            <a:ext cx="1426365" cy="1422352"/>
            <a:chOff x="1831884" y="2845350"/>
            <a:chExt cx="1426365" cy="1422352"/>
          </a:xfrm>
        </p:grpSpPr>
        <p:sp>
          <p:nvSpPr>
            <p:cNvPr id="52" name="Rectangle 51"/>
            <p:cNvSpPr/>
            <p:nvPr/>
          </p:nvSpPr>
          <p:spPr>
            <a:xfrm>
              <a:off x="1831884" y="3353302"/>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53" name="Oval Callout 52"/>
            <p:cNvSpPr/>
            <p:nvPr/>
          </p:nvSpPr>
          <p:spPr>
            <a:xfrm>
              <a:off x="2234318" y="2845350"/>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parents</a:t>
              </a:r>
            </a:p>
          </p:txBody>
        </p:sp>
        <p:pic>
          <p:nvPicPr>
            <p:cNvPr id="54" name="Picture 53"/>
            <p:cNvPicPr>
              <a:picLocks noChangeAspect="1"/>
            </p:cNvPicPr>
            <p:nvPr/>
          </p:nvPicPr>
          <p:blipFill>
            <a:blip r:embed="rId2"/>
            <a:stretch>
              <a:fillRect/>
            </a:stretch>
          </p:blipFill>
          <p:spPr>
            <a:xfrm>
              <a:off x="2125040" y="3602236"/>
              <a:ext cx="317006" cy="413176"/>
            </a:xfrm>
            <a:prstGeom prst="rect">
              <a:avLst/>
            </a:prstGeom>
          </p:spPr>
        </p:pic>
      </p:grpSp>
      <p:grpSp>
        <p:nvGrpSpPr>
          <p:cNvPr id="81" name="Group 80"/>
          <p:cNvGrpSpPr/>
          <p:nvPr/>
        </p:nvGrpSpPr>
        <p:grpSpPr>
          <a:xfrm>
            <a:off x="2442046" y="3236992"/>
            <a:ext cx="1426365" cy="1422352"/>
            <a:chOff x="2442046" y="3236992"/>
            <a:chExt cx="1426365" cy="1422352"/>
          </a:xfrm>
        </p:grpSpPr>
        <p:sp>
          <p:nvSpPr>
            <p:cNvPr id="55" name="Rectangle 54"/>
            <p:cNvSpPr/>
            <p:nvPr/>
          </p:nvSpPr>
          <p:spPr>
            <a:xfrm>
              <a:off x="2442046" y="3744944"/>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56" name="Oval Callout 55"/>
            <p:cNvSpPr/>
            <p:nvPr/>
          </p:nvSpPr>
          <p:spPr>
            <a:xfrm>
              <a:off x="2844480" y="3236992"/>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children</a:t>
              </a:r>
            </a:p>
          </p:txBody>
        </p:sp>
        <p:pic>
          <p:nvPicPr>
            <p:cNvPr id="57" name="Picture 56"/>
            <p:cNvPicPr>
              <a:picLocks noChangeAspect="1"/>
            </p:cNvPicPr>
            <p:nvPr/>
          </p:nvPicPr>
          <p:blipFill>
            <a:blip r:embed="rId2"/>
            <a:stretch>
              <a:fillRect/>
            </a:stretch>
          </p:blipFill>
          <p:spPr>
            <a:xfrm>
              <a:off x="2735202" y="3993878"/>
              <a:ext cx="317006" cy="413176"/>
            </a:xfrm>
            <a:prstGeom prst="rect">
              <a:avLst/>
            </a:prstGeom>
          </p:spPr>
        </p:pic>
      </p:grpSp>
      <p:grpSp>
        <p:nvGrpSpPr>
          <p:cNvPr id="82" name="Group 81"/>
          <p:cNvGrpSpPr/>
          <p:nvPr/>
        </p:nvGrpSpPr>
        <p:grpSpPr>
          <a:xfrm>
            <a:off x="3052208" y="3587959"/>
            <a:ext cx="1473766" cy="1422352"/>
            <a:chOff x="3052208" y="3587959"/>
            <a:chExt cx="1473766" cy="1422352"/>
          </a:xfrm>
        </p:grpSpPr>
        <p:sp>
          <p:nvSpPr>
            <p:cNvPr id="58" name="Rectangle 57"/>
            <p:cNvSpPr/>
            <p:nvPr/>
          </p:nvSpPr>
          <p:spPr>
            <a:xfrm>
              <a:off x="3052208" y="4095911"/>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59" name="Oval Callout 58"/>
            <p:cNvSpPr/>
            <p:nvPr/>
          </p:nvSpPr>
          <p:spPr>
            <a:xfrm>
              <a:off x="3454642" y="3587959"/>
              <a:ext cx="1071332"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happiness</a:t>
              </a:r>
            </a:p>
          </p:txBody>
        </p:sp>
        <p:pic>
          <p:nvPicPr>
            <p:cNvPr id="60" name="Picture 59"/>
            <p:cNvPicPr>
              <a:picLocks noChangeAspect="1"/>
            </p:cNvPicPr>
            <p:nvPr/>
          </p:nvPicPr>
          <p:blipFill>
            <a:blip r:embed="rId2"/>
            <a:stretch>
              <a:fillRect/>
            </a:stretch>
          </p:blipFill>
          <p:spPr>
            <a:xfrm>
              <a:off x="3345364" y="4344845"/>
              <a:ext cx="317006" cy="413176"/>
            </a:xfrm>
            <a:prstGeom prst="rect">
              <a:avLst/>
            </a:prstGeom>
          </p:spPr>
        </p:pic>
      </p:grpSp>
      <p:grpSp>
        <p:nvGrpSpPr>
          <p:cNvPr id="83" name="Group 82"/>
          <p:cNvGrpSpPr/>
          <p:nvPr/>
        </p:nvGrpSpPr>
        <p:grpSpPr>
          <a:xfrm>
            <a:off x="3662370" y="3927408"/>
            <a:ext cx="1426365" cy="1422352"/>
            <a:chOff x="3662370" y="3927408"/>
            <a:chExt cx="1426365" cy="1422352"/>
          </a:xfrm>
        </p:grpSpPr>
        <p:sp>
          <p:nvSpPr>
            <p:cNvPr id="61" name="Rectangle 60"/>
            <p:cNvSpPr/>
            <p:nvPr/>
          </p:nvSpPr>
          <p:spPr>
            <a:xfrm>
              <a:off x="3662370" y="4435360"/>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62" name="Oval Callout 61"/>
            <p:cNvSpPr/>
            <p:nvPr/>
          </p:nvSpPr>
          <p:spPr>
            <a:xfrm>
              <a:off x="4064804" y="3927408"/>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flying</a:t>
              </a:r>
            </a:p>
          </p:txBody>
        </p:sp>
        <p:pic>
          <p:nvPicPr>
            <p:cNvPr id="63" name="Picture 62"/>
            <p:cNvPicPr>
              <a:picLocks noChangeAspect="1"/>
            </p:cNvPicPr>
            <p:nvPr/>
          </p:nvPicPr>
          <p:blipFill>
            <a:blip r:embed="rId2"/>
            <a:stretch>
              <a:fillRect/>
            </a:stretch>
          </p:blipFill>
          <p:spPr>
            <a:xfrm>
              <a:off x="3955526" y="4684294"/>
              <a:ext cx="317006" cy="413176"/>
            </a:xfrm>
            <a:prstGeom prst="rect">
              <a:avLst/>
            </a:prstGeom>
          </p:spPr>
        </p:pic>
      </p:grpSp>
      <p:grpSp>
        <p:nvGrpSpPr>
          <p:cNvPr id="84" name="Group 83"/>
          <p:cNvGrpSpPr/>
          <p:nvPr/>
        </p:nvGrpSpPr>
        <p:grpSpPr>
          <a:xfrm>
            <a:off x="4272532" y="4250069"/>
            <a:ext cx="1426365" cy="1422352"/>
            <a:chOff x="4272532" y="4250069"/>
            <a:chExt cx="1426365" cy="1422352"/>
          </a:xfrm>
        </p:grpSpPr>
        <p:sp>
          <p:nvSpPr>
            <p:cNvPr id="64" name="Rectangle 63"/>
            <p:cNvSpPr/>
            <p:nvPr/>
          </p:nvSpPr>
          <p:spPr>
            <a:xfrm>
              <a:off x="4272532" y="4758021"/>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65" name="Oval Callout 64"/>
            <p:cNvSpPr/>
            <p:nvPr/>
          </p:nvSpPr>
          <p:spPr>
            <a:xfrm>
              <a:off x="4674966" y="4250069"/>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sailing</a:t>
              </a:r>
            </a:p>
          </p:txBody>
        </p:sp>
        <p:pic>
          <p:nvPicPr>
            <p:cNvPr id="66" name="Picture 65"/>
            <p:cNvPicPr>
              <a:picLocks noChangeAspect="1"/>
            </p:cNvPicPr>
            <p:nvPr/>
          </p:nvPicPr>
          <p:blipFill>
            <a:blip r:embed="rId2"/>
            <a:stretch>
              <a:fillRect/>
            </a:stretch>
          </p:blipFill>
          <p:spPr>
            <a:xfrm>
              <a:off x="4565688" y="5006955"/>
              <a:ext cx="317006" cy="413176"/>
            </a:xfrm>
            <a:prstGeom prst="rect">
              <a:avLst/>
            </a:prstGeom>
          </p:spPr>
        </p:pic>
      </p:grpSp>
      <p:grpSp>
        <p:nvGrpSpPr>
          <p:cNvPr id="85" name="Group 84"/>
          <p:cNvGrpSpPr/>
          <p:nvPr/>
        </p:nvGrpSpPr>
        <p:grpSpPr>
          <a:xfrm>
            <a:off x="4904893" y="4641796"/>
            <a:ext cx="1426365" cy="1422352"/>
            <a:chOff x="4904893" y="4641796"/>
            <a:chExt cx="1426365" cy="1422352"/>
          </a:xfrm>
        </p:grpSpPr>
        <p:sp>
          <p:nvSpPr>
            <p:cNvPr id="67" name="Rectangle 66"/>
            <p:cNvSpPr/>
            <p:nvPr/>
          </p:nvSpPr>
          <p:spPr>
            <a:xfrm>
              <a:off x="4904893" y="5149748"/>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68" name="Oval Callout 67"/>
            <p:cNvSpPr/>
            <p:nvPr/>
          </p:nvSpPr>
          <p:spPr>
            <a:xfrm>
              <a:off x="5307327" y="4641796"/>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water</a:t>
              </a:r>
            </a:p>
          </p:txBody>
        </p:sp>
        <p:pic>
          <p:nvPicPr>
            <p:cNvPr id="69" name="Picture 68"/>
            <p:cNvPicPr>
              <a:picLocks noChangeAspect="1"/>
            </p:cNvPicPr>
            <p:nvPr/>
          </p:nvPicPr>
          <p:blipFill>
            <a:blip r:embed="rId2"/>
            <a:stretch>
              <a:fillRect/>
            </a:stretch>
          </p:blipFill>
          <p:spPr>
            <a:xfrm>
              <a:off x="5198049" y="5398682"/>
              <a:ext cx="317006" cy="413176"/>
            </a:xfrm>
            <a:prstGeom prst="rect">
              <a:avLst/>
            </a:prstGeom>
          </p:spPr>
        </p:pic>
      </p:grpSp>
      <p:grpSp>
        <p:nvGrpSpPr>
          <p:cNvPr id="86" name="Group 85"/>
          <p:cNvGrpSpPr/>
          <p:nvPr/>
        </p:nvGrpSpPr>
        <p:grpSpPr>
          <a:xfrm>
            <a:off x="5515055" y="5056493"/>
            <a:ext cx="1426365" cy="1422352"/>
            <a:chOff x="5515055" y="5056493"/>
            <a:chExt cx="1426365" cy="1422352"/>
          </a:xfrm>
        </p:grpSpPr>
        <p:sp>
          <p:nvSpPr>
            <p:cNvPr id="70" name="Rectangle 69"/>
            <p:cNvSpPr/>
            <p:nvPr/>
          </p:nvSpPr>
          <p:spPr>
            <a:xfrm>
              <a:off x="5515055" y="5564445"/>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71" name="Oval Callout 70"/>
            <p:cNvSpPr/>
            <p:nvPr/>
          </p:nvSpPr>
          <p:spPr>
            <a:xfrm>
              <a:off x="5917489" y="5056493"/>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fishing</a:t>
              </a:r>
            </a:p>
          </p:txBody>
        </p:sp>
        <p:pic>
          <p:nvPicPr>
            <p:cNvPr id="72" name="Picture 71"/>
            <p:cNvPicPr>
              <a:picLocks noChangeAspect="1"/>
            </p:cNvPicPr>
            <p:nvPr/>
          </p:nvPicPr>
          <p:blipFill>
            <a:blip r:embed="rId2"/>
            <a:stretch>
              <a:fillRect/>
            </a:stretch>
          </p:blipFill>
          <p:spPr>
            <a:xfrm>
              <a:off x="5808211" y="5813379"/>
              <a:ext cx="317006" cy="413176"/>
            </a:xfrm>
            <a:prstGeom prst="rect">
              <a:avLst/>
            </a:prstGeom>
          </p:spPr>
        </p:pic>
      </p:grpSp>
      <p:grpSp>
        <p:nvGrpSpPr>
          <p:cNvPr id="87" name="Group 86"/>
          <p:cNvGrpSpPr/>
          <p:nvPr/>
        </p:nvGrpSpPr>
        <p:grpSpPr>
          <a:xfrm>
            <a:off x="6125217" y="5420374"/>
            <a:ext cx="1426365" cy="1422352"/>
            <a:chOff x="6125217" y="5420374"/>
            <a:chExt cx="1426365" cy="1422352"/>
          </a:xfrm>
        </p:grpSpPr>
        <p:sp>
          <p:nvSpPr>
            <p:cNvPr id="73" name="Rectangle 72"/>
            <p:cNvSpPr/>
            <p:nvPr/>
          </p:nvSpPr>
          <p:spPr>
            <a:xfrm>
              <a:off x="6125217" y="5928326"/>
              <a:ext cx="914400" cy="914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dirty="0">
                <a:latin typeface="Arial"/>
                <a:cs typeface="Arial"/>
              </a:endParaRPr>
            </a:p>
          </p:txBody>
        </p:sp>
        <p:sp>
          <p:nvSpPr>
            <p:cNvPr id="74" name="Oval Callout 73"/>
            <p:cNvSpPr/>
            <p:nvPr/>
          </p:nvSpPr>
          <p:spPr>
            <a:xfrm>
              <a:off x="6527651" y="5420374"/>
              <a:ext cx="1023931" cy="673400"/>
            </a:xfrm>
            <a:prstGeom prst="wedgeEllipseCallou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100" dirty="0">
                  <a:solidFill>
                    <a:srgbClr val="000000"/>
                  </a:solidFill>
                </a:rPr>
                <a:t>eating</a:t>
              </a:r>
            </a:p>
          </p:txBody>
        </p:sp>
        <p:pic>
          <p:nvPicPr>
            <p:cNvPr id="75" name="Picture 74"/>
            <p:cNvPicPr>
              <a:picLocks noChangeAspect="1"/>
            </p:cNvPicPr>
            <p:nvPr/>
          </p:nvPicPr>
          <p:blipFill>
            <a:blip r:embed="rId2"/>
            <a:stretch>
              <a:fillRect/>
            </a:stretch>
          </p:blipFill>
          <p:spPr>
            <a:xfrm>
              <a:off x="6418373" y="6177260"/>
              <a:ext cx="317006" cy="413176"/>
            </a:xfrm>
            <a:prstGeom prst="rect">
              <a:avLst/>
            </a:prstGeom>
          </p:spPr>
        </p:pic>
      </p:grpSp>
      <p:sp>
        <p:nvSpPr>
          <p:cNvPr id="2" name="TextBox 1"/>
          <p:cNvSpPr txBox="1"/>
          <p:nvPr/>
        </p:nvSpPr>
        <p:spPr>
          <a:xfrm>
            <a:off x="5917489" y="565261"/>
            <a:ext cx="3205713" cy="2308324"/>
          </a:xfrm>
          <a:prstGeom prst="rect">
            <a:avLst/>
          </a:prstGeom>
          <a:noFill/>
        </p:spPr>
        <p:txBody>
          <a:bodyPr wrap="square" rtlCol="0">
            <a:spAutoFit/>
          </a:bodyPr>
          <a:lstStyle/>
          <a:p>
            <a:pPr algn="ctr"/>
            <a:r>
              <a:rPr lang="en-US" sz="1600" dirty="0">
                <a:latin typeface="Arial"/>
                <a:cs typeface="Arial"/>
              </a:rPr>
              <a:t>Example of autobiographical thought for this participant:</a:t>
            </a:r>
          </a:p>
          <a:p>
            <a:pPr algn="ctr"/>
            <a:endParaRPr lang="en-US" sz="1600" dirty="0">
              <a:latin typeface="Arial"/>
              <a:cs typeface="Arial"/>
            </a:endParaRPr>
          </a:p>
          <a:p>
            <a:pPr algn="ctr"/>
            <a:r>
              <a:rPr lang="en-US" sz="1600" i="1" dirty="0">
                <a:latin typeface="Arial"/>
                <a:cs typeface="Arial"/>
              </a:rPr>
              <a:t>“I will be experiencing a lay off here shortly. Not knowing when is stressful but okay because I know a general time frame in which I will be laid off…”</a:t>
            </a:r>
          </a:p>
          <a:p>
            <a:pPr algn="ctr"/>
            <a:endParaRPr lang="en-US" sz="1600" dirty="0">
              <a:latin typeface="Arial"/>
              <a:cs typeface="Arial"/>
            </a:endParaRPr>
          </a:p>
        </p:txBody>
      </p:sp>
      <p:cxnSp>
        <p:nvCxnSpPr>
          <p:cNvPr id="5" name="Straight Arrow Connector 4"/>
          <p:cNvCxnSpPr/>
          <p:nvPr/>
        </p:nvCxnSpPr>
        <p:spPr>
          <a:xfrm flipH="1">
            <a:off x="3955527" y="789315"/>
            <a:ext cx="2083927" cy="202228"/>
          </a:xfrm>
          <a:prstGeom prst="straightConnector1">
            <a:avLst/>
          </a:prstGeom>
          <a:ln>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7825" y="1768108"/>
            <a:ext cx="1047470" cy="369332"/>
          </a:xfrm>
          <a:prstGeom prst="rect">
            <a:avLst/>
          </a:prstGeom>
          <a:noFill/>
        </p:spPr>
        <p:txBody>
          <a:bodyPr wrap="none" rtlCol="0">
            <a:spAutoFit/>
          </a:bodyPr>
          <a:lstStyle/>
          <a:p>
            <a:r>
              <a:rPr lang="en-US" dirty="0"/>
              <a:t>Subject 1</a:t>
            </a:r>
          </a:p>
        </p:txBody>
      </p:sp>
      <p:sp>
        <p:nvSpPr>
          <p:cNvPr id="91" name="TextBox 90"/>
          <p:cNvSpPr txBox="1"/>
          <p:nvPr/>
        </p:nvSpPr>
        <p:spPr>
          <a:xfrm>
            <a:off x="1459373" y="430839"/>
            <a:ext cx="1047470" cy="369332"/>
          </a:xfrm>
          <a:prstGeom prst="rect">
            <a:avLst/>
          </a:prstGeom>
          <a:noFill/>
        </p:spPr>
        <p:txBody>
          <a:bodyPr wrap="none" rtlCol="0">
            <a:spAutoFit/>
          </a:bodyPr>
          <a:lstStyle/>
          <a:p>
            <a:r>
              <a:rPr lang="en-US" dirty="0"/>
              <a:t>Subject 2</a:t>
            </a:r>
          </a:p>
        </p:txBody>
      </p:sp>
    </p:spTree>
    <p:extLst>
      <p:ext uri="{BB962C8B-B14F-4D97-AF65-F5344CB8AC3E}">
        <p14:creationId xmlns:p14="http://schemas.microsoft.com/office/powerpoint/2010/main" val="1204232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535101"/>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400" dirty="0">
                <a:solidFill>
                  <a:srgbClr val="FFFF00"/>
                </a:solidFill>
                <a:latin typeface="Helvetica"/>
                <a:cs typeface="Helvetica"/>
              </a:rPr>
              <a:t>LIWC Text Analysis: Relationships with Mental Health Traits</a:t>
            </a:r>
          </a:p>
        </p:txBody>
      </p:sp>
      <p:cxnSp>
        <p:nvCxnSpPr>
          <p:cNvPr id="7" name="Straight Connector 6"/>
          <p:cNvCxnSpPr/>
          <p:nvPr/>
        </p:nvCxnSpPr>
        <p:spPr>
          <a:xfrm>
            <a:off x="0" y="535101"/>
            <a:ext cx="9144000" cy="0"/>
          </a:xfrm>
          <a:prstGeom prst="line">
            <a:avLst/>
          </a:prstGeom>
        </p:spPr>
        <p:style>
          <a:lnRef idx="1">
            <a:schemeClr val="accent2"/>
          </a:lnRef>
          <a:fillRef idx="0">
            <a:schemeClr val="accent2"/>
          </a:fillRef>
          <a:effectRef idx="0">
            <a:schemeClr val="accent2"/>
          </a:effectRef>
          <a:fontRef idx="minor">
            <a:schemeClr val="tx1"/>
          </a:fontRef>
        </p:style>
      </p:cxnSp>
      <p:pic>
        <p:nvPicPr>
          <p:cNvPr id="2" name="Picture 1" descr="LIWCThoughts_x_Traits.ep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685800"/>
            <a:ext cx="9144000" cy="5473407"/>
          </a:xfrm>
          <a:prstGeom prst="rect">
            <a:avLst/>
          </a:prstGeom>
        </p:spPr>
      </p:pic>
      <p:sp>
        <p:nvSpPr>
          <p:cNvPr id="8" name="TextBox 7"/>
          <p:cNvSpPr txBox="1"/>
          <p:nvPr/>
        </p:nvSpPr>
        <p:spPr>
          <a:xfrm>
            <a:off x="1152698" y="6019485"/>
            <a:ext cx="1442372" cy="461665"/>
          </a:xfrm>
          <a:prstGeom prst="rect">
            <a:avLst/>
          </a:prstGeom>
          <a:noFill/>
        </p:spPr>
        <p:txBody>
          <a:bodyPr wrap="none" rtlCol="0">
            <a:spAutoFit/>
          </a:bodyPr>
          <a:lstStyle/>
          <a:p>
            <a:r>
              <a:rPr lang="en-US" sz="1200" dirty="0">
                <a:latin typeface="Helvetica"/>
                <a:cs typeface="Helvetica"/>
              </a:rPr>
              <a:t>r = 0.32; p = 0.007</a:t>
            </a:r>
          </a:p>
          <a:p>
            <a:r>
              <a:rPr lang="en-US" sz="1200" dirty="0">
                <a:latin typeface="Helvetica"/>
                <a:cs typeface="Helvetica"/>
              </a:rPr>
              <a:t>rob p = 0.007**</a:t>
            </a:r>
          </a:p>
        </p:txBody>
      </p:sp>
      <p:sp>
        <p:nvSpPr>
          <p:cNvPr id="9" name="TextBox 8"/>
          <p:cNvSpPr txBox="1"/>
          <p:nvPr/>
        </p:nvSpPr>
        <p:spPr>
          <a:xfrm>
            <a:off x="3081783" y="6019485"/>
            <a:ext cx="1442372" cy="461665"/>
          </a:xfrm>
          <a:prstGeom prst="rect">
            <a:avLst/>
          </a:prstGeom>
          <a:noFill/>
        </p:spPr>
        <p:txBody>
          <a:bodyPr wrap="none" rtlCol="0">
            <a:spAutoFit/>
          </a:bodyPr>
          <a:lstStyle/>
          <a:p>
            <a:r>
              <a:rPr lang="en-US" sz="1200" dirty="0">
                <a:latin typeface="Helvetica"/>
                <a:cs typeface="Helvetica"/>
              </a:rPr>
              <a:t>r = 0.05; p = 0.068</a:t>
            </a:r>
          </a:p>
          <a:p>
            <a:r>
              <a:rPr lang="en-US" sz="1200" dirty="0">
                <a:latin typeface="Helvetica"/>
                <a:cs typeface="Helvetica"/>
              </a:rPr>
              <a:t>rob p = 0.57</a:t>
            </a:r>
          </a:p>
        </p:txBody>
      </p:sp>
      <p:sp>
        <p:nvSpPr>
          <p:cNvPr id="10" name="TextBox 9"/>
          <p:cNvSpPr txBox="1"/>
          <p:nvPr/>
        </p:nvSpPr>
        <p:spPr>
          <a:xfrm>
            <a:off x="5087838" y="6019485"/>
            <a:ext cx="1356787" cy="461665"/>
          </a:xfrm>
          <a:prstGeom prst="rect">
            <a:avLst/>
          </a:prstGeom>
          <a:noFill/>
        </p:spPr>
        <p:txBody>
          <a:bodyPr wrap="none" rtlCol="0">
            <a:spAutoFit/>
          </a:bodyPr>
          <a:lstStyle/>
          <a:p>
            <a:r>
              <a:rPr lang="en-US" sz="1200" dirty="0">
                <a:latin typeface="Helvetica"/>
                <a:cs typeface="Helvetica"/>
              </a:rPr>
              <a:t>r = 0.26; p = 0.03</a:t>
            </a:r>
          </a:p>
          <a:p>
            <a:r>
              <a:rPr lang="en-US" sz="1200" dirty="0">
                <a:latin typeface="Helvetica"/>
                <a:cs typeface="Helvetica"/>
              </a:rPr>
              <a:t>rob p = 0.01*</a:t>
            </a:r>
          </a:p>
        </p:txBody>
      </p:sp>
      <p:sp>
        <p:nvSpPr>
          <p:cNvPr id="11" name="TextBox 10"/>
          <p:cNvSpPr txBox="1"/>
          <p:nvPr/>
        </p:nvSpPr>
        <p:spPr>
          <a:xfrm>
            <a:off x="6959228" y="6019485"/>
            <a:ext cx="1356787" cy="461665"/>
          </a:xfrm>
          <a:prstGeom prst="rect">
            <a:avLst/>
          </a:prstGeom>
          <a:noFill/>
        </p:spPr>
        <p:txBody>
          <a:bodyPr wrap="none" rtlCol="0">
            <a:spAutoFit/>
          </a:bodyPr>
          <a:lstStyle/>
          <a:p>
            <a:r>
              <a:rPr lang="en-US" sz="1200" dirty="0">
                <a:latin typeface="Helvetica"/>
                <a:cs typeface="Helvetica"/>
              </a:rPr>
              <a:t>r = 0.34; p = 0.12</a:t>
            </a:r>
          </a:p>
          <a:p>
            <a:r>
              <a:rPr lang="en-US" sz="1200" dirty="0">
                <a:latin typeface="Helvetica"/>
                <a:cs typeface="Helvetica"/>
              </a:rPr>
              <a:t>rob p = 0.02*</a:t>
            </a:r>
          </a:p>
        </p:txBody>
      </p:sp>
    </p:spTree>
    <p:extLst>
      <p:ext uri="{BB962C8B-B14F-4D97-AF65-F5344CB8AC3E}">
        <p14:creationId xmlns:p14="http://schemas.microsoft.com/office/powerpoint/2010/main" val="5149711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535101"/>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400" dirty="0">
                <a:solidFill>
                  <a:srgbClr val="FFFF00"/>
                </a:solidFill>
                <a:latin typeface="Helvetica"/>
                <a:cs typeface="Helvetica"/>
              </a:rPr>
              <a:t>Resting State Paradigm</a:t>
            </a:r>
          </a:p>
        </p:txBody>
      </p:sp>
      <p:cxnSp>
        <p:nvCxnSpPr>
          <p:cNvPr id="7" name="Straight Connector 6"/>
          <p:cNvCxnSpPr/>
          <p:nvPr/>
        </p:nvCxnSpPr>
        <p:spPr>
          <a:xfrm>
            <a:off x="0" y="53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TextBox 2"/>
          <p:cNvSpPr txBox="1"/>
          <p:nvPr/>
        </p:nvSpPr>
        <p:spPr>
          <a:xfrm>
            <a:off x="119108" y="827833"/>
            <a:ext cx="8243287" cy="1754327"/>
          </a:xfrm>
          <a:prstGeom prst="rect">
            <a:avLst/>
          </a:prstGeom>
          <a:noFill/>
        </p:spPr>
        <p:txBody>
          <a:bodyPr wrap="none" rtlCol="0">
            <a:spAutoFit/>
          </a:bodyPr>
          <a:lstStyle/>
          <a:p>
            <a:r>
              <a:rPr lang="en-US" dirty="0">
                <a:latin typeface="Helvetica"/>
                <a:cs typeface="Helvetica"/>
              </a:rPr>
              <a:t>single resting state run (7 min) </a:t>
            </a:r>
          </a:p>
          <a:p>
            <a:r>
              <a:rPr lang="en-US" dirty="0">
                <a:latin typeface="Helvetica"/>
                <a:cs typeface="Helvetica"/>
              </a:rPr>
              <a:t>	- ultra-fast fMRI sequence (</a:t>
            </a:r>
            <a:r>
              <a:rPr lang="en-US" dirty="0" err="1">
                <a:latin typeface="Helvetica"/>
                <a:cs typeface="Helvetica"/>
              </a:rPr>
              <a:t>tr</a:t>
            </a:r>
            <a:r>
              <a:rPr lang="en-US" dirty="0">
                <a:latin typeface="Helvetica"/>
                <a:cs typeface="Helvetica"/>
              </a:rPr>
              <a:t> = 460ms)</a:t>
            </a:r>
          </a:p>
          <a:p>
            <a:endParaRPr lang="en-US" dirty="0">
              <a:latin typeface="Helvetica"/>
              <a:cs typeface="Helvetica"/>
            </a:endParaRPr>
          </a:p>
          <a:p>
            <a:r>
              <a:rPr lang="en-US" dirty="0">
                <a:latin typeface="Helvetica"/>
                <a:cs typeface="Helvetica"/>
              </a:rPr>
              <a:t>Participants subsequently answer questions about the content of their thoughts</a:t>
            </a:r>
          </a:p>
          <a:p>
            <a:endParaRPr lang="en-US" i="1" dirty="0">
              <a:latin typeface="Helvetica"/>
              <a:cs typeface="Helvetica"/>
            </a:endParaRPr>
          </a:p>
          <a:p>
            <a:endParaRPr lang="en-US" dirty="0">
              <a:latin typeface="Helvetica"/>
              <a:cs typeface="Helvetica"/>
            </a:endParaRPr>
          </a:p>
        </p:txBody>
      </p:sp>
    </p:spTree>
    <p:extLst>
      <p:ext uri="{BB962C8B-B14F-4D97-AF65-F5344CB8AC3E}">
        <p14:creationId xmlns:p14="http://schemas.microsoft.com/office/powerpoint/2010/main" val="332218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535101"/>
          </a:xfrm>
          <a:prstGeom prst="rect">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400" dirty="0">
                <a:solidFill>
                  <a:srgbClr val="FFFF00"/>
                </a:solidFill>
                <a:latin typeface="Helvetica"/>
                <a:cs typeface="Helvetica"/>
              </a:rPr>
              <a:t>Planned analyses</a:t>
            </a:r>
          </a:p>
        </p:txBody>
      </p:sp>
      <p:cxnSp>
        <p:nvCxnSpPr>
          <p:cNvPr id="7" name="Straight Connector 6"/>
          <p:cNvCxnSpPr/>
          <p:nvPr/>
        </p:nvCxnSpPr>
        <p:spPr>
          <a:xfrm>
            <a:off x="0" y="535101"/>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3" name="TextBox 2"/>
          <p:cNvSpPr txBox="1"/>
          <p:nvPr/>
        </p:nvSpPr>
        <p:spPr>
          <a:xfrm>
            <a:off x="119108" y="827833"/>
            <a:ext cx="7858153" cy="2862323"/>
          </a:xfrm>
          <a:prstGeom prst="rect">
            <a:avLst/>
          </a:prstGeom>
          <a:noFill/>
        </p:spPr>
        <p:txBody>
          <a:bodyPr wrap="none" rtlCol="0">
            <a:spAutoFit/>
          </a:bodyPr>
          <a:lstStyle/>
          <a:p>
            <a:r>
              <a:rPr lang="en-US" dirty="0">
                <a:latin typeface="Helvetica"/>
                <a:cs typeface="Helvetica"/>
              </a:rPr>
              <a:t>Examine relationships between mental health traits, spontaneous thoughts, </a:t>
            </a:r>
          </a:p>
          <a:p>
            <a:r>
              <a:rPr lang="en-US" dirty="0">
                <a:latin typeface="Helvetica"/>
                <a:cs typeface="Helvetica"/>
              </a:rPr>
              <a:t>   free associations, and measures of functional network connectivity</a:t>
            </a:r>
          </a:p>
          <a:p>
            <a:r>
              <a:rPr lang="en-US" dirty="0">
                <a:latin typeface="Helvetica"/>
                <a:cs typeface="Helvetica"/>
              </a:rPr>
              <a:t>	</a:t>
            </a:r>
            <a:r>
              <a:rPr lang="en-US" dirty="0">
                <a:latin typeface="Helvetica"/>
                <a:cs typeface="Helvetica"/>
                <a:sym typeface="Wingdings"/>
              </a:rPr>
              <a:t> machine learning prediction</a:t>
            </a:r>
          </a:p>
          <a:p>
            <a:r>
              <a:rPr lang="en-US" dirty="0">
                <a:latin typeface="Helvetica"/>
                <a:cs typeface="Helvetica"/>
                <a:sym typeface="Wingdings"/>
              </a:rPr>
              <a:t>	 graph analysis</a:t>
            </a:r>
          </a:p>
          <a:p>
            <a:r>
              <a:rPr lang="en-US" dirty="0">
                <a:latin typeface="Helvetica"/>
                <a:cs typeface="Helvetica"/>
                <a:sym typeface="Wingdings"/>
              </a:rPr>
              <a:t>	 dynamic functional connectivity</a:t>
            </a:r>
          </a:p>
          <a:p>
            <a:r>
              <a:rPr lang="en-US" dirty="0">
                <a:latin typeface="Helvetica"/>
                <a:cs typeface="Helvetica"/>
                <a:sym typeface="Wingdings"/>
              </a:rPr>
              <a:t>	 focus on </a:t>
            </a:r>
            <a:r>
              <a:rPr lang="en-US" dirty="0">
                <a:latin typeface="Helvetica"/>
                <a:cs typeface="Helvetica"/>
              </a:rPr>
              <a:t>valence, association strength, variability in thought content</a:t>
            </a:r>
          </a:p>
          <a:p>
            <a:r>
              <a:rPr lang="en-US" dirty="0">
                <a:latin typeface="Helvetica"/>
                <a:cs typeface="Helvetica"/>
              </a:rPr>
              <a:t>	</a:t>
            </a:r>
            <a:r>
              <a:rPr lang="en-US" dirty="0">
                <a:latin typeface="Helvetica"/>
                <a:cs typeface="Helvetica"/>
                <a:sym typeface="Wingdings"/>
              </a:rPr>
              <a:t> assess relationships with responses to physical pain and </a:t>
            </a:r>
          </a:p>
          <a:p>
            <a:r>
              <a:rPr lang="en-US" dirty="0">
                <a:latin typeface="Helvetica"/>
                <a:cs typeface="Helvetica"/>
                <a:sym typeface="Wingdings"/>
              </a:rPr>
              <a:t>            emotional movies</a:t>
            </a:r>
            <a:endParaRPr lang="en-US" dirty="0">
              <a:latin typeface="Helvetica"/>
              <a:cs typeface="Helvetica"/>
            </a:endParaRPr>
          </a:p>
          <a:p>
            <a:endParaRPr lang="en-US" i="1" dirty="0">
              <a:latin typeface="Helvetica"/>
              <a:cs typeface="Helvetica"/>
            </a:endParaRPr>
          </a:p>
          <a:p>
            <a:endParaRPr lang="en-US" dirty="0">
              <a:latin typeface="Helvetica"/>
              <a:cs typeface="Helvetica"/>
            </a:endParaRPr>
          </a:p>
        </p:txBody>
      </p:sp>
    </p:spTree>
    <p:extLst>
      <p:ext uri="{BB962C8B-B14F-4D97-AF65-F5344CB8AC3E}">
        <p14:creationId xmlns:p14="http://schemas.microsoft.com/office/powerpoint/2010/main" val="11940921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Pain Sound Task Overview</a:t>
            </a:r>
          </a:p>
        </p:txBody>
      </p:sp>
      <p:sp>
        <p:nvSpPr>
          <p:cNvPr id="4" name="Slide Number Placeholder 3"/>
          <p:cNvSpPr>
            <a:spLocks noGrp="1"/>
          </p:cNvSpPr>
          <p:nvPr>
            <p:ph type="sldNum" sz="quarter" idx="12"/>
          </p:nvPr>
        </p:nvSpPr>
        <p:spPr/>
        <p:txBody>
          <a:bodyPr/>
          <a:lstStyle/>
          <a:p>
            <a:pPr>
              <a:defRPr/>
            </a:pPr>
            <a:fld id="{6B4185B3-0083-D849-BA66-C3E534FEAD90}" type="slidenum">
              <a:rPr lang="en-US" smtClean="0"/>
              <a:pPr>
                <a:defRPr/>
              </a:pPr>
              <a:t>12</a:t>
            </a:fld>
            <a:endParaRPr lang="en-US" dirty="0"/>
          </a:p>
        </p:txBody>
      </p:sp>
      <p:sp>
        <p:nvSpPr>
          <p:cNvPr id="5" name="TextBox 4"/>
          <p:cNvSpPr txBox="1"/>
          <p:nvPr/>
        </p:nvSpPr>
        <p:spPr>
          <a:xfrm>
            <a:off x="1122449" y="1738168"/>
            <a:ext cx="1646279" cy="400110"/>
          </a:xfrm>
          <a:prstGeom prst="rect">
            <a:avLst/>
          </a:prstGeom>
          <a:noFill/>
        </p:spPr>
        <p:txBody>
          <a:bodyPr wrap="none" rtlCol="0">
            <a:spAutoFit/>
          </a:bodyPr>
          <a:lstStyle/>
          <a:p>
            <a:r>
              <a:rPr lang="en-US" sz="2000" dirty="0">
                <a:latin typeface="Candara"/>
                <a:cs typeface="Candara"/>
              </a:rPr>
              <a:t>Noxious Heat</a:t>
            </a:r>
          </a:p>
        </p:txBody>
      </p:sp>
      <p:sp>
        <p:nvSpPr>
          <p:cNvPr id="6" name="TextBox 5"/>
          <p:cNvSpPr txBox="1"/>
          <p:nvPr/>
        </p:nvSpPr>
        <p:spPr>
          <a:xfrm>
            <a:off x="3656950" y="1718065"/>
            <a:ext cx="1826141" cy="400110"/>
          </a:xfrm>
          <a:prstGeom prst="rect">
            <a:avLst/>
          </a:prstGeom>
          <a:noFill/>
        </p:spPr>
        <p:txBody>
          <a:bodyPr wrap="none" rtlCol="0">
            <a:spAutoFit/>
          </a:bodyPr>
          <a:lstStyle/>
          <a:p>
            <a:r>
              <a:rPr lang="en-US" sz="2000" dirty="0">
                <a:latin typeface="Candara"/>
                <a:cs typeface="Candara"/>
              </a:rPr>
              <a:t>Noxious Sound</a:t>
            </a:r>
          </a:p>
        </p:txBody>
      </p:sp>
      <p:sp>
        <p:nvSpPr>
          <p:cNvPr id="7" name="TextBox 6"/>
          <p:cNvSpPr txBox="1"/>
          <p:nvPr/>
        </p:nvSpPr>
        <p:spPr>
          <a:xfrm>
            <a:off x="6362722" y="1747575"/>
            <a:ext cx="1903511" cy="400110"/>
          </a:xfrm>
          <a:prstGeom prst="rect">
            <a:avLst/>
          </a:prstGeom>
          <a:noFill/>
        </p:spPr>
        <p:txBody>
          <a:bodyPr wrap="none" rtlCol="0">
            <a:spAutoFit/>
          </a:bodyPr>
          <a:lstStyle/>
          <a:p>
            <a:r>
              <a:rPr lang="en-US" sz="2000" dirty="0">
                <a:latin typeface="Candara"/>
                <a:cs typeface="Candara"/>
              </a:rPr>
              <a:t>Negative Sound</a:t>
            </a:r>
          </a:p>
        </p:txBody>
      </p:sp>
      <p:sp>
        <p:nvSpPr>
          <p:cNvPr id="9" name="TextBox 8"/>
          <p:cNvSpPr txBox="1"/>
          <p:nvPr/>
        </p:nvSpPr>
        <p:spPr>
          <a:xfrm>
            <a:off x="1304263" y="5969974"/>
            <a:ext cx="2294118" cy="400110"/>
          </a:xfrm>
          <a:prstGeom prst="rect">
            <a:avLst/>
          </a:prstGeom>
          <a:noFill/>
        </p:spPr>
        <p:txBody>
          <a:bodyPr wrap="none" rtlCol="0">
            <a:spAutoFit/>
          </a:bodyPr>
          <a:lstStyle/>
          <a:p>
            <a:r>
              <a:rPr lang="en-US" sz="2000" dirty="0">
                <a:latin typeface="Candara"/>
                <a:cs typeface="Candara"/>
              </a:rPr>
              <a:t>Modality Specificity</a:t>
            </a:r>
          </a:p>
        </p:txBody>
      </p:sp>
      <p:sp>
        <p:nvSpPr>
          <p:cNvPr id="11" name="TextBox 10"/>
          <p:cNvSpPr txBox="1"/>
          <p:nvPr/>
        </p:nvSpPr>
        <p:spPr>
          <a:xfrm>
            <a:off x="5650768" y="5952917"/>
            <a:ext cx="1801445" cy="400110"/>
          </a:xfrm>
          <a:prstGeom prst="rect">
            <a:avLst/>
          </a:prstGeom>
          <a:noFill/>
        </p:spPr>
        <p:txBody>
          <a:bodyPr wrap="none" rtlCol="0">
            <a:spAutoFit/>
          </a:bodyPr>
          <a:lstStyle/>
          <a:p>
            <a:r>
              <a:rPr lang="en-US" sz="2000" dirty="0">
                <a:latin typeface="Candara"/>
                <a:cs typeface="Candara"/>
              </a:rPr>
              <a:t>Pain Specificity</a:t>
            </a:r>
          </a:p>
        </p:txBody>
      </p:sp>
      <p:pic>
        <p:nvPicPr>
          <p:cNvPr id="12" name="Picture 11" descr="ATS thermode.jpg"/>
          <p:cNvPicPr>
            <a:picLocks noChangeAspect="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8772" t="7676" r="7450" b="9516"/>
          <a:stretch/>
        </p:blipFill>
        <p:spPr>
          <a:xfrm>
            <a:off x="1035839" y="4493173"/>
            <a:ext cx="1711309" cy="1209443"/>
          </a:xfrm>
          <a:prstGeom prst="rect">
            <a:avLst/>
          </a:prstGeom>
        </p:spPr>
      </p:pic>
      <p:pic>
        <p:nvPicPr>
          <p:cNvPr id="19" name="Picture 18" descr="fighting.jpe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59917" y="2145367"/>
            <a:ext cx="2124874" cy="2075688"/>
          </a:xfrm>
          <a:prstGeom prst="rect">
            <a:avLst/>
          </a:prstGeom>
          <a:effectLst>
            <a:outerShdw blurRad="50800" dist="38100" dir="2700000" algn="tl" rotWithShape="0">
              <a:srgbClr val="000000">
                <a:alpha val="43000"/>
              </a:srgbClr>
            </a:outerShdw>
          </a:effectLst>
        </p:spPr>
      </p:pic>
      <p:pic>
        <p:nvPicPr>
          <p:cNvPr id="20" name="Picture 19" descr="nails on chalkboard.jpe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1346" y="2140413"/>
            <a:ext cx="2075688" cy="2075688"/>
          </a:xfrm>
          <a:prstGeom prst="rect">
            <a:avLst/>
          </a:prstGeom>
          <a:ln>
            <a:solidFill>
              <a:schemeClr val="tx1"/>
            </a:solidFill>
          </a:ln>
          <a:effectLst>
            <a:outerShdw blurRad="50800" dist="38100" dir="2700000" algn="tl" rotWithShape="0">
              <a:srgbClr val="000000">
                <a:alpha val="43000"/>
              </a:srgbClr>
            </a:outerShdw>
          </a:effectLst>
        </p:spPr>
      </p:pic>
      <p:pic>
        <p:nvPicPr>
          <p:cNvPr id="22" name="Picture 21" descr="speaker.jpeg"/>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983210" y="4622428"/>
            <a:ext cx="1206445" cy="955102"/>
          </a:xfrm>
          <a:prstGeom prst="rect">
            <a:avLst/>
          </a:prstGeom>
        </p:spPr>
      </p:pic>
      <p:pic>
        <p:nvPicPr>
          <p:cNvPr id="24" name="Picture 23" descr="speaker.jpeg"/>
          <p:cNvPicPr>
            <a:picLocks noChangeAspect="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51891" y="4697853"/>
            <a:ext cx="1206445" cy="955102"/>
          </a:xfrm>
          <a:prstGeom prst="rect">
            <a:avLst/>
          </a:prstGeom>
        </p:spPr>
      </p:pic>
      <p:grpSp>
        <p:nvGrpSpPr>
          <p:cNvPr id="26" name="Group 25"/>
          <p:cNvGrpSpPr/>
          <p:nvPr/>
        </p:nvGrpSpPr>
        <p:grpSpPr>
          <a:xfrm>
            <a:off x="802604" y="2144172"/>
            <a:ext cx="2258448" cy="2079753"/>
            <a:chOff x="1872289" y="1960022"/>
            <a:chExt cx="1016000" cy="1017236"/>
          </a:xfrm>
        </p:grpSpPr>
        <p:sp>
          <p:nvSpPr>
            <p:cNvPr id="25" name="Rectangle 24"/>
            <p:cNvSpPr/>
            <p:nvPr/>
          </p:nvSpPr>
          <p:spPr>
            <a:xfrm>
              <a:off x="1872289" y="1960022"/>
              <a:ext cx="1016000" cy="1017236"/>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8" name="Picture 17" descr="thermometer.jpeg"/>
            <p:cNvPicPr>
              <a:picLocks noChangeAspect="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265806" y="1988213"/>
              <a:ext cx="251898" cy="972113"/>
            </a:xfrm>
            <a:prstGeom prst="rect">
              <a:avLst/>
            </a:prstGeom>
          </p:spPr>
        </p:pic>
      </p:grpSp>
      <p:sp>
        <p:nvSpPr>
          <p:cNvPr id="27" name="Left Brace 26"/>
          <p:cNvSpPr/>
          <p:nvPr/>
        </p:nvSpPr>
        <p:spPr>
          <a:xfrm rot="16200000">
            <a:off x="2689767" y="4228962"/>
            <a:ext cx="498318" cy="3269327"/>
          </a:xfrm>
          <a:prstGeom prst="leftBrace">
            <a:avLst>
              <a:gd name="adj1" fmla="val 8333"/>
              <a:gd name="adj2" fmla="val 4026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Left Brace 28"/>
          <p:cNvSpPr/>
          <p:nvPr/>
        </p:nvSpPr>
        <p:spPr>
          <a:xfrm rot="16200000">
            <a:off x="5804439" y="4370831"/>
            <a:ext cx="498318" cy="2960019"/>
          </a:xfrm>
          <a:prstGeom prst="leftBrace">
            <a:avLst>
              <a:gd name="adj1" fmla="val 8333"/>
              <a:gd name="adj2" fmla="val 67825"/>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4161253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9" grpId="0"/>
      <p:bldP spid="11" grpId="0"/>
      <p:bldP spid="27" grpId="0" animBg="1"/>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Pain Sound Task: Condition Details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15044599"/>
              </p:ext>
            </p:extLst>
          </p:nvPr>
        </p:nvGraphicFramePr>
        <p:xfrm>
          <a:off x="1197081" y="1622286"/>
          <a:ext cx="6583680" cy="174752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70840">
                <a:tc>
                  <a:txBody>
                    <a:bodyPr/>
                    <a:lstStyle/>
                    <a:p>
                      <a:r>
                        <a:rPr lang="en-US" dirty="0"/>
                        <a:t>Intensity</a:t>
                      </a:r>
                    </a:p>
                  </a:txBody>
                  <a:tcPr/>
                </a:tc>
                <a:tc>
                  <a:txBody>
                    <a:bodyPr/>
                    <a:lstStyle/>
                    <a:p>
                      <a:r>
                        <a:rPr lang="en-US" baseline="0" dirty="0"/>
                        <a:t>Intermediate Pain</a:t>
                      </a:r>
                      <a:endParaRPr lang="en-US" dirty="0"/>
                    </a:p>
                  </a:txBody>
                  <a:tcPr/>
                </a:tc>
                <a:tc>
                  <a:txBody>
                    <a:bodyPr/>
                    <a:lstStyle/>
                    <a:p>
                      <a:r>
                        <a:rPr lang="en-US" dirty="0"/>
                        <a:t>Long Pain</a:t>
                      </a:r>
                    </a:p>
                  </a:txBody>
                  <a:tcPr/>
                </a:tc>
                <a:tc>
                  <a:txBody>
                    <a:bodyPr/>
                    <a:lstStyle/>
                    <a:p>
                      <a:r>
                        <a:rPr lang="en-US" dirty="0"/>
                        <a:t>Offset Analgesia</a:t>
                      </a:r>
                    </a:p>
                  </a:txBody>
                  <a:tcPr/>
                </a:tc>
                <a:extLst>
                  <a:ext uri="{0D108BD9-81ED-4DB2-BD59-A6C34878D82A}">
                    <a16:rowId xmlns:a16="http://schemas.microsoft.com/office/drawing/2014/main" val="10000"/>
                  </a:ext>
                </a:extLst>
              </a:tr>
              <a:tr h="334152">
                <a:tc>
                  <a:txBody>
                    <a:bodyPr/>
                    <a:lstStyle/>
                    <a:p>
                      <a:r>
                        <a:rPr lang="en-US" dirty="0"/>
                        <a:t>Low </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47°C, 8 sec.</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47°C, 11 sec.</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47°C, 11 sec.</a:t>
                      </a:r>
                    </a:p>
                  </a:txBody>
                  <a:tcPr/>
                </a:tc>
                <a:extLst>
                  <a:ext uri="{0D108BD9-81ED-4DB2-BD59-A6C34878D82A}">
                    <a16:rowId xmlns:a16="http://schemas.microsoft.com/office/drawing/2014/main" val="10001"/>
                  </a:ext>
                </a:extLst>
              </a:tr>
              <a:tr h="370840">
                <a:tc>
                  <a:txBody>
                    <a:bodyPr/>
                    <a:lstStyle/>
                    <a:p>
                      <a:r>
                        <a:rPr lang="en-US" dirty="0"/>
                        <a:t>Medium</a:t>
                      </a:r>
                    </a:p>
                  </a:txBody>
                  <a:tcPr/>
                </a:tc>
                <a:tc>
                  <a:txBody>
                    <a:bodyPr/>
                    <a:lstStyle/>
                    <a:p>
                      <a:r>
                        <a:rPr lang="en-US" dirty="0"/>
                        <a:t>48°C, 8 sec.</a:t>
                      </a:r>
                    </a:p>
                  </a:txBody>
                  <a:tcPr/>
                </a:tc>
                <a:tc>
                  <a:txBody>
                    <a:bodyPr/>
                    <a:lstStyle/>
                    <a:p>
                      <a:r>
                        <a:rPr lang="en-US" dirty="0"/>
                        <a:t>48°C, 11 sec.</a:t>
                      </a:r>
                    </a:p>
                  </a:txBody>
                  <a:tcPr/>
                </a:tc>
                <a:tc>
                  <a:txBody>
                    <a:bodyPr/>
                    <a:lstStyle/>
                    <a:p>
                      <a:r>
                        <a:rPr lang="en-US" dirty="0"/>
                        <a:t>48°C, 11 sec.</a:t>
                      </a:r>
                    </a:p>
                  </a:txBody>
                  <a:tcPr/>
                </a:tc>
                <a:extLst>
                  <a:ext uri="{0D108BD9-81ED-4DB2-BD59-A6C34878D82A}">
                    <a16:rowId xmlns:a16="http://schemas.microsoft.com/office/drawing/2014/main" val="10002"/>
                  </a:ext>
                </a:extLst>
              </a:tr>
              <a:tr h="370840">
                <a:tc>
                  <a:txBody>
                    <a:bodyPr/>
                    <a:lstStyle/>
                    <a:p>
                      <a:r>
                        <a:rPr lang="en-US" dirty="0"/>
                        <a:t>High</a:t>
                      </a:r>
                    </a:p>
                  </a:txBody>
                  <a:tcPr/>
                </a:tc>
                <a:tc>
                  <a:txBody>
                    <a:bodyPr/>
                    <a:lstStyle/>
                    <a:p>
                      <a:r>
                        <a:rPr lang="en-US" dirty="0"/>
                        <a:t>49°C</a:t>
                      </a:r>
                      <a:r>
                        <a:rPr lang="en-US" baseline="0" dirty="0"/>
                        <a:t>, 8 sec.</a:t>
                      </a:r>
                      <a:endParaRPr lang="en-US" dirty="0"/>
                    </a:p>
                  </a:txBody>
                  <a:tcPr/>
                </a:tc>
                <a:tc>
                  <a:txBody>
                    <a:bodyPr/>
                    <a:lstStyle/>
                    <a:p>
                      <a:r>
                        <a:rPr lang="en-US" dirty="0"/>
                        <a:t>49°C</a:t>
                      </a:r>
                      <a:r>
                        <a:rPr lang="en-US" baseline="0" dirty="0"/>
                        <a:t>, 11 sec.</a:t>
                      </a:r>
                      <a:endParaRPr lang="en-US" dirty="0"/>
                    </a:p>
                  </a:txBody>
                  <a:tcPr/>
                </a:tc>
                <a:tc>
                  <a:txBody>
                    <a:bodyPr/>
                    <a:lstStyle/>
                    <a:p>
                      <a:r>
                        <a:rPr lang="en-US" dirty="0"/>
                        <a:t>49°C</a:t>
                      </a:r>
                      <a:r>
                        <a:rPr lang="en-US" baseline="0" dirty="0"/>
                        <a:t>, 11 sec.</a:t>
                      </a:r>
                      <a:endParaRPr lang="en-US" dirty="0"/>
                    </a:p>
                  </a:txBody>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956401604"/>
              </p:ext>
            </p:extLst>
          </p:nvPr>
        </p:nvGraphicFramePr>
        <p:xfrm>
          <a:off x="1184633" y="3732722"/>
          <a:ext cx="6629257" cy="2814763"/>
        </p:xfrm>
        <a:graphic>
          <a:graphicData uri="http://schemas.openxmlformats.org/drawingml/2006/table">
            <a:tbl>
              <a:tblPr firstRow="1" bandRow="1">
                <a:tableStyleId>{21E4AEA4-8DFA-4A89-87EB-49C32662AFE0}</a:tableStyleId>
              </a:tblPr>
              <a:tblGrid>
                <a:gridCol w="1666739">
                  <a:extLst>
                    <a:ext uri="{9D8B030D-6E8A-4147-A177-3AD203B41FA5}">
                      <a16:colId xmlns:a16="http://schemas.microsoft.com/office/drawing/2014/main" val="20000"/>
                    </a:ext>
                  </a:extLst>
                </a:gridCol>
                <a:gridCol w="2266155">
                  <a:extLst>
                    <a:ext uri="{9D8B030D-6E8A-4147-A177-3AD203B41FA5}">
                      <a16:colId xmlns:a16="http://schemas.microsoft.com/office/drawing/2014/main" val="20001"/>
                    </a:ext>
                  </a:extLst>
                </a:gridCol>
                <a:gridCol w="2696363">
                  <a:extLst>
                    <a:ext uri="{9D8B030D-6E8A-4147-A177-3AD203B41FA5}">
                      <a16:colId xmlns:a16="http://schemas.microsoft.com/office/drawing/2014/main" val="20002"/>
                    </a:ext>
                  </a:extLst>
                </a:gridCol>
              </a:tblGrid>
              <a:tr h="1707323">
                <a:tc>
                  <a:txBody>
                    <a:bodyPr/>
                    <a:lstStyle/>
                    <a:p>
                      <a:r>
                        <a:rPr lang="en-US" dirty="0"/>
                        <a:t>Intensity</a:t>
                      </a:r>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a:t>Unpleasant Sounds: Nails on a Chalkboard</a:t>
                      </a:r>
                    </a:p>
                    <a:p>
                      <a:endParaRPr lang="en-US"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IADS Negative Sounds: </a:t>
                      </a:r>
                    </a:p>
                    <a:p>
                      <a:pPr marL="0" marR="0" indent="0" algn="l" defTabSz="457200" rtl="0" eaLnBrk="1" fontAlgn="auto" latinLnBrk="0" hangingPunct="1">
                        <a:lnSpc>
                          <a:spcPct val="100000"/>
                        </a:lnSpc>
                        <a:spcBef>
                          <a:spcPts val="0"/>
                        </a:spcBef>
                        <a:spcAft>
                          <a:spcPts val="0"/>
                        </a:spcAft>
                        <a:buClrTx/>
                        <a:buSzTx/>
                        <a:buFontTx/>
                        <a:buNone/>
                        <a:tabLst/>
                        <a:defRPr/>
                      </a:pPr>
                      <a:r>
                        <a:rPr lang="en-US" dirty="0" err="1"/>
                        <a:t>Sickness,Disasters</a:t>
                      </a:r>
                      <a:r>
                        <a:rPr lang="en-US" dirty="0"/>
                        <a:t>,</a:t>
                      </a:r>
                      <a:r>
                        <a:rPr lang="en-US" baseline="0" dirty="0"/>
                        <a:t> Crying or Attacks</a:t>
                      </a:r>
                      <a:endParaRPr lang="en-US" dirty="0"/>
                    </a:p>
                    <a:p>
                      <a:endParaRPr lang="en-US" dirty="0"/>
                    </a:p>
                  </a:txBody>
                  <a:tcPr/>
                </a:tc>
                <a:extLst>
                  <a:ext uri="{0D108BD9-81ED-4DB2-BD59-A6C34878D82A}">
                    <a16:rowId xmlns:a16="http://schemas.microsoft.com/office/drawing/2014/main" val="10000"/>
                  </a:ext>
                </a:extLst>
              </a:tr>
              <a:tr h="370840">
                <a:tc>
                  <a:txBody>
                    <a:bodyPr/>
                    <a:lstStyle/>
                    <a:p>
                      <a:r>
                        <a:rPr lang="en-US" dirty="0"/>
                        <a:t>Low</a:t>
                      </a:r>
                    </a:p>
                  </a:txBody>
                  <a:tcPr/>
                </a:tc>
                <a:tc>
                  <a:txBody>
                    <a:bodyPr/>
                    <a:lstStyle/>
                    <a:p>
                      <a:r>
                        <a:rPr lang="en-US" dirty="0"/>
                        <a:t>30 Db </a:t>
                      </a:r>
                    </a:p>
                  </a:txBody>
                  <a:tcPr/>
                </a:tc>
                <a:tc>
                  <a:txBody>
                    <a:bodyPr/>
                    <a:lstStyle/>
                    <a:p>
                      <a:r>
                        <a:rPr lang="en-US" dirty="0"/>
                        <a:t>6/9</a:t>
                      </a:r>
                    </a:p>
                  </a:txBody>
                  <a:tcPr/>
                </a:tc>
                <a:extLst>
                  <a:ext uri="{0D108BD9-81ED-4DB2-BD59-A6C34878D82A}">
                    <a16:rowId xmlns:a16="http://schemas.microsoft.com/office/drawing/2014/main" val="10001"/>
                  </a:ext>
                </a:extLst>
              </a:tr>
              <a:tr h="370840">
                <a:tc>
                  <a:txBody>
                    <a:bodyPr/>
                    <a:lstStyle/>
                    <a:p>
                      <a:r>
                        <a:rPr lang="en-US" dirty="0"/>
                        <a:t>Medium</a:t>
                      </a:r>
                    </a:p>
                  </a:txBody>
                  <a:tcPr/>
                </a:tc>
                <a:tc>
                  <a:txBody>
                    <a:bodyPr/>
                    <a:lstStyle/>
                    <a:p>
                      <a:r>
                        <a:rPr lang="en-US" dirty="0"/>
                        <a:t>60 Db</a:t>
                      </a:r>
                    </a:p>
                  </a:txBody>
                  <a:tcPr/>
                </a:tc>
                <a:tc>
                  <a:txBody>
                    <a:bodyPr/>
                    <a:lstStyle/>
                    <a:p>
                      <a:r>
                        <a:rPr lang="en-US" dirty="0"/>
                        <a:t>7/9</a:t>
                      </a:r>
                    </a:p>
                  </a:txBody>
                  <a:tcPr/>
                </a:tc>
                <a:extLst>
                  <a:ext uri="{0D108BD9-81ED-4DB2-BD59-A6C34878D82A}">
                    <a16:rowId xmlns:a16="http://schemas.microsoft.com/office/drawing/2014/main" val="10002"/>
                  </a:ext>
                </a:extLst>
              </a:tr>
              <a:tr h="236790">
                <a:tc>
                  <a:txBody>
                    <a:bodyPr/>
                    <a:lstStyle/>
                    <a:p>
                      <a:r>
                        <a:rPr lang="en-US" dirty="0"/>
                        <a:t>High</a:t>
                      </a:r>
                    </a:p>
                  </a:txBody>
                  <a:tcPr/>
                </a:tc>
                <a:tc>
                  <a:txBody>
                    <a:bodyPr/>
                    <a:lstStyle/>
                    <a:p>
                      <a:r>
                        <a:rPr lang="en-US" dirty="0"/>
                        <a:t>90 Db</a:t>
                      </a:r>
                    </a:p>
                  </a:txBody>
                  <a:tcPr/>
                </a:tc>
                <a:tc>
                  <a:txBody>
                    <a:bodyPr/>
                    <a:lstStyle/>
                    <a:p>
                      <a:r>
                        <a:rPr lang="en-US" dirty="0"/>
                        <a:t>8/9</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118091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Pain Sound Task Structure</a:t>
            </a:r>
          </a:p>
        </p:txBody>
      </p:sp>
      <p:pic>
        <p:nvPicPr>
          <p:cNvPr id="4" name="Content Placeholder 3" descr="bmrk5 pain and sound  task graphic_updated-01.png"/>
          <p:cNvPicPr>
            <a:picLocks noGrp="1" noChangeAspect="1"/>
          </p:cNvPicPr>
          <p:nvPr>
            <p:ph idx="1"/>
          </p:nvPr>
        </p:nvPicPr>
        <p:blipFill>
          <a:blip r:embed="rId2"/>
          <a:srcRect t="-10811" b="-10811"/>
          <a:stretch>
            <a:fillRect/>
          </a:stretch>
        </p:blipFill>
        <p:spPr>
          <a:xfrm>
            <a:off x="13186" y="1417638"/>
            <a:ext cx="9014891" cy="4957843"/>
          </a:xfrm>
        </p:spPr>
      </p:pic>
    </p:spTree>
    <p:extLst>
      <p:ext uri="{BB962C8B-B14F-4D97-AF65-F5344CB8AC3E}">
        <p14:creationId xmlns:p14="http://schemas.microsoft.com/office/powerpoint/2010/main" val="3589003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Pain Sound Task Written Description</a:t>
            </a:r>
          </a:p>
        </p:txBody>
      </p:sp>
      <p:sp>
        <p:nvSpPr>
          <p:cNvPr id="3" name="Content Placeholder 2"/>
          <p:cNvSpPr>
            <a:spLocks noGrp="1"/>
          </p:cNvSpPr>
          <p:nvPr>
            <p:ph idx="1"/>
          </p:nvPr>
        </p:nvSpPr>
        <p:spPr/>
        <p:txBody>
          <a:bodyPr>
            <a:normAutofit fontScale="85000" lnSpcReduction="20000"/>
          </a:bodyPr>
          <a:lstStyle/>
          <a:p>
            <a:r>
              <a:rPr lang="en-US" dirty="0"/>
              <a:t>The purpose of the pain-sound task was to allow for the identification of neural correlates of different aspects of the pain experience including pain duration, pain modality, and pain specificity. The task consisted of three main conditions: painful heat delivered to the inner forearm, acoustically aversive shrill sounds, and emotionally negative sound clips (e.g., domestic violence). Heat stimuli were delivered with three different temporal profiles: 8 sec. constant temperature,11 sec. constant temperature, and 11 sec. with temperature spike. Each of these types of stimuli were delivered at three different intensity </a:t>
            </a:r>
            <a:r>
              <a:rPr lang="en-US"/>
              <a:t>levels in </a:t>
            </a:r>
            <a:r>
              <a:rPr lang="en-US" dirty="0"/>
              <a:t>each of four runs. </a:t>
            </a:r>
          </a:p>
        </p:txBody>
      </p:sp>
    </p:spTree>
    <p:extLst>
      <p:ext uri="{BB962C8B-B14F-4D97-AF65-F5344CB8AC3E}">
        <p14:creationId xmlns:p14="http://schemas.microsoft.com/office/powerpoint/2010/main" val="4110034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Pain Modulation Tasks (1)</a:t>
            </a:r>
          </a:p>
        </p:txBody>
      </p:sp>
      <p:sp>
        <p:nvSpPr>
          <p:cNvPr id="56" name="Rectangle 55"/>
          <p:cNvSpPr/>
          <p:nvPr/>
        </p:nvSpPr>
        <p:spPr>
          <a:xfrm>
            <a:off x="2133175" y="2164600"/>
            <a:ext cx="1629443" cy="805803"/>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dirty="0"/>
              <a:t>neg. mood</a:t>
            </a:r>
          </a:p>
        </p:txBody>
      </p:sp>
      <p:sp>
        <p:nvSpPr>
          <p:cNvPr id="58" name="Rectangle 57"/>
          <p:cNvSpPr/>
          <p:nvPr/>
        </p:nvSpPr>
        <p:spPr>
          <a:xfrm>
            <a:off x="6304319" y="2164600"/>
            <a:ext cx="1657951" cy="79684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pos. mood</a:t>
            </a:r>
          </a:p>
        </p:txBody>
      </p:sp>
      <p:sp>
        <p:nvSpPr>
          <p:cNvPr id="59" name="Rectangle 58"/>
          <p:cNvSpPr/>
          <p:nvPr/>
        </p:nvSpPr>
        <p:spPr>
          <a:xfrm>
            <a:off x="2133175" y="5351835"/>
            <a:ext cx="1629443" cy="788899"/>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400" dirty="0"/>
              <a:t>stress</a:t>
            </a:r>
          </a:p>
        </p:txBody>
      </p:sp>
      <p:sp>
        <p:nvSpPr>
          <p:cNvPr id="61" name="Rectangle 60"/>
          <p:cNvSpPr/>
          <p:nvPr/>
        </p:nvSpPr>
        <p:spPr>
          <a:xfrm>
            <a:off x="3787590" y="2163400"/>
            <a:ext cx="2482420" cy="796843"/>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movies</a:t>
            </a:r>
          </a:p>
        </p:txBody>
      </p:sp>
      <p:sp>
        <p:nvSpPr>
          <p:cNvPr id="64" name="Rectangle 63"/>
          <p:cNvSpPr/>
          <p:nvPr/>
        </p:nvSpPr>
        <p:spPr>
          <a:xfrm>
            <a:off x="2133175" y="3244545"/>
            <a:ext cx="1629443" cy="80580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pos. mood</a:t>
            </a:r>
          </a:p>
        </p:txBody>
      </p:sp>
      <p:sp>
        <p:nvSpPr>
          <p:cNvPr id="66" name="Rectangle 65"/>
          <p:cNvSpPr/>
          <p:nvPr/>
        </p:nvSpPr>
        <p:spPr>
          <a:xfrm>
            <a:off x="6318196" y="3253505"/>
            <a:ext cx="1657951" cy="796843"/>
          </a:xfrm>
          <a:prstGeom prst="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sz="2400" dirty="0"/>
              <a:t>neg. mood</a:t>
            </a:r>
          </a:p>
        </p:txBody>
      </p:sp>
      <p:sp>
        <p:nvSpPr>
          <p:cNvPr id="67" name="Rectangle 66"/>
          <p:cNvSpPr/>
          <p:nvPr/>
        </p:nvSpPr>
        <p:spPr>
          <a:xfrm>
            <a:off x="3791419" y="3253505"/>
            <a:ext cx="2482420" cy="796843"/>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movies</a:t>
            </a:r>
          </a:p>
        </p:txBody>
      </p:sp>
      <p:sp>
        <p:nvSpPr>
          <p:cNvPr id="70" name="Rectangle 69"/>
          <p:cNvSpPr/>
          <p:nvPr/>
        </p:nvSpPr>
        <p:spPr>
          <a:xfrm>
            <a:off x="2133175" y="4310110"/>
            <a:ext cx="1629443" cy="788897"/>
          </a:xfrm>
          <a:prstGeom prst="rect">
            <a:avLst/>
          </a:prstGeom>
          <a:solidFill>
            <a:schemeClr val="accent3">
              <a:lumMod val="75000"/>
            </a:schemeClr>
          </a:solidFill>
          <a:ln>
            <a:solidFill>
              <a:srgbClr val="77933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n-back</a:t>
            </a:r>
          </a:p>
        </p:txBody>
      </p:sp>
      <p:sp>
        <p:nvSpPr>
          <p:cNvPr id="72" name="Rectangle 71"/>
          <p:cNvSpPr/>
          <p:nvPr/>
        </p:nvSpPr>
        <p:spPr>
          <a:xfrm>
            <a:off x="3791419" y="4302164"/>
            <a:ext cx="2482420" cy="796843"/>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movies</a:t>
            </a:r>
          </a:p>
        </p:txBody>
      </p:sp>
      <p:sp>
        <p:nvSpPr>
          <p:cNvPr id="81" name="Rectangle 80"/>
          <p:cNvSpPr/>
          <p:nvPr/>
        </p:nvSpPr>
        <p:spPr>
          <a:xfrm>
            <a:off x="6300153" y="4302164"/>
            <a:ext cx="1651508" cy="788899"/>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r>
              <a:rPr lang="en-US" sz="2400" dirty="0"/>
              <a:t>stress</a:t>
            </a:r>
          </a:p>
        </p:txBody>
      </p:sp>
      <p:sp>
        <p:nvSpPr>
          <p:cNvPr id="95" name="Rectangle 94"/>
          <p:cNvSpPr/>
          <p:nvPr/>
        </p:nvSpPr>
        <p:spPr>
          <a:xfrm>
            <a:off x="6322218" y="5351835"/>
            <a:ext cx="1629443" cy="788897"/>
          </a:xfrm>
          <a:prstGeom prst="rect">
            <a:avLst/>
          </a:prstGeom>
          <a:solidFill>
            <a:schemeClr val="accent3">
              <a:lumMod val="75000"/>
            </a:schemeClr>
          </a:solidFill>
          <a:ln>
            <a:solidFill>
              <a:srgbClr val="77933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n-back</a:t>
            </a:r>
          </a:p>
        </p:txBody>
      </p:sp>
      <p:sp>
        <p:nvSpPr>
          <p:cNvPr id="99" name="Rectangle 98"/>
          <p:cNvSpPr/>
          <p:nvPr/>
        </p:nvSpPr>
        <p:spPr>
          <a:xfrm>
            <a:off x="3791419" y="5351836"/>
            <a:ext cx="2482420" cy="796843"/>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t>movies</a:t>
            </a:r>
          </a:p>
        </p:txBody>
      </p:sp>
      <p:sp>
        <p:nvSpPr>
          <p:cNvPr id="3" name="TextBox 2"/>
          <p:cNvSpPr txBox="1"/>
          <p:nvPr/>
        </p:nvSpPr>
        <p:spPr>
          <a:xfrm>
            <a:off x="853439" y="1488758"/>
            <a:ext cx="1828375" cy="4801315"/>
          </a:xfrm>
          <a:prstGeom prst="rect">
            <a:avLst/>
          </a:prstGeom>
          <a:noFill/>
        </p:spPr>
        <p:txBody>
          <a:bodyPr wrap="square" rtlCol="0">
            <a:spAutoFit/>
          </a:bodyPr>
          <a:lstStyle/>
          <a:p>
            <a:r>
              <a:rPr lang="en-US" dirty="0"/>
              <a:t>between-subject condition</a:t>
            </a:r>
          </a:p>
          <a:p>
            <a:endParaRPr lang="en-US" dirty="0"/>
          </a:p>
          <a:p>
            <a:r>
              <a:rPr lang="en-US" dirty="0"/>
              <a:t>	1</a:t>
            </a:r>
          </a:p>
          <a:p>
            <a:endParaRPr lang="en-US" dirty="0"/>
          </a:p>
          <a:p>
            <a:endParaRPr lang="en-US" dirty="0"/>
          </a:p>
          <a:p>
            <a:endParaRPr lang="en-US" dirty="0"/>
          </a:p>
          <a:p>
            <a:r>
              <a:rPr lang="en-US" dirty="0"/>
              <a:t>	2</a:t>
            </a:r>
          </a:p>
          <a:p>
            <a:endParaRPr lang="en-US" dirty="0"/>
          </a:p>
          <a:p>
            <a:endParaRPr lang="en-US" dirty="0"/>
          </a:p>
          <a:p>
            <a:endParaRPr lang="en-US" dirty="0"/>
          </a:p>
          <a:p>
            <a:r>
              <a:rPr lang="en-US" dirty="0"/>
              <a:t>	3</a:t>
            </a:r>
          </a:p>
          <a:p>
            <a:endParaRPr lang="en-US" dirty="0"/>
          </a:p>
          <a:p>
            <a:endParaRPr lang="en-US" dirty="0"/>
          </a:p>
          <a:p>
            <a:endParaRPr lang="en-US" dirty="0"/>
          </a:p>
          <a:p>
            <a:r>
              <a:rPr lang="en-US" dirty="0"/>
              <a:t>	4</a:t>
            </a:r>
          </a:p>
          <a:p>
            <a:endParaRPr lang="en-US" dirty="0"/>
          </a:p>
        </p:txBody>
      </p:sp>
      <p:sp>
        <p:nvSpPr>
          <p:cNvPr id="4" name="TextBox 3">
            <a:extLst>
              <a:ext uri="{FF2B5EF4-FFF2-40B4-BE49-F238E27FC236}">
                <a16:creationId xmlns:a16="http://schemas.microsoft.com/office/drawing/2014/main" id="{BBCD3E65-FABD-F64E-8A41-DE2DD316F738}"/>
              </a:ext>
            </a:extLst>
          </p:cNvPr>
          <p:cNvSpPr txBox="1"/>
          <p:nvPr/>
        </p:nvSpPr>
        <p:spPr>
          <a:xfrm>
            <a:off x="2772076" y="1322448"/>
            <a:ext cx="5081648" cy="369332"/>
          </a:xfrm>
          <a:prstGeom prst="rect">
            <a:avLst/>
          </a:prstGeom>
          <a:noFill/>
        </p:spPr>
        <p:txBody>
          <a:bodyPr wrap="none" rtlCol="0">
            <a:spAutoFit/>
          </a:bodyPr>
          <a:lstStyle/>
          <a:p>
            <a:r>
              <a:rPr lang="en-US" dirty="0"/>
              <a:t>Neg movie with 12 pain trials, 4 during and pre/post</a:t>
            </a:r>
          </a:p>
        </p:txBody>
      </p:sp>
      <p:cxnSp>
        <p:nvCxnSpPr>
          <p:cNvPr id="6" name="Straight Arrow Connector 5">
            <a:extLst>
              <a:ext uri="{FF2B5EF4-FFF2-40B4-BE49-F238E27FC236}">
                <a16:creationId xmlns:a16="http://schemas.microsoft.com/office/drawing/2014/main" id="{2639BA5F-9553-014A-9B47-120E08DD8C05}"/>
              </a:ext>
            </a:extLst>
          </p:cNvPr>
          <p:cNvCxnSpPr/>
          <p:nvPr/>
        </p:nvCxnSpPr>
        <p:spPr>
          <a:xfrm flipH="1">
            <a:off x="3097730" y="1677400"/>
            <a:ext cx="689860" cy="6422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E7FB3E12-1FCB-0845-9B66-4B81BD3E8761}"/>
              </a:ext>
            </a:extLst>
          </p:cNvPr>
          <p:cNvSpPr txBox="1"/>
          <p:nvPr/>
        </p:nvSpPr>
        <p:spPr>
          <a:xfrm>
            <a:off x="4203506" y="1588987"/>
            <a:ext cx="5033750" cy="369332"/>
          </a:xfrm>
          <a:prstGeom prst="rect">
            <a:avLst/>
          </a:prstGeom>
          <a:noFill/>
        </p:spPr>
        <p:txBody>
          <a:bodyPr wrap="none" rtlCol="0">
            <a:spAutoFit/>
          </a:bodyPr>
          <a:lstStyle/>
          <a:p>
            <a:r>
              <a:rPr lang="en-US" dirty="0" err="1"/>
              <a:t>Pos</a:t>
            </a:r>
            <a:r>
              <a:rPr lang="en-US" dirty="0"/>
              <a:t> movie with 12 pain trials, 4 during and pre/post</a:t>
            </a:r>
          </a:p>
        </p:txBody>
      </p:sp>
      <p:cxnSp>
        <p:nvCxnSpPr>
          <p:cNvPr id="20" name="Straight Arrow Connector 19">
            <a:extLst>
              <a:ext uri="{FF2B5EF4-FFF2-40B4-BE49-F238E27FC236}">
                <a16:creationId xmlns:a16="http://schemas.microsoft.com/office/drawing/2014/main" id="{8F4C402B-52B5-164A-8693-3050898DF1BE}"/>
              </a:ext>
            </a:extLst>
          </p:cNvPr>
          <p:cNvCxnSpPr>
            <a:cxnSpLocks/>
          </p:cNvCxnSpPr>
          <p:nvPr/>
        </p:nvCxnSpPr>
        <p:spPr>
          <a:xfrm flipH="1">
            <a:off x="7063338" y="1983842"/>
            <a:ext cx="638102" cy="43209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CE4B7819-6B70-A946-A53A-A7887498B229}"/>
              </a:ext>
            </a:extLst>
          </p:cNvPr>
          <p:cNvSpPr txBox="1"/>
          <p:nvPr/>
        </p:nvSpPr>
        <p:spPr>
          <a:xfrm>
            <a:off x="2690579" y="6431784"/>
            <a:ext cx="4883837" cy="461665"/>
          </a:xfrm>
          <a:prstGeom prst="rect">
            <a:avLst/>
          </a:prstGeom>
          <a:noFill/>
        </p:spPr>
        <p:txBody>
          <a:bodyPr wrap="none" rtlCol="0">
            <a:spAutoFit/>
          </a:bodyPr>
          <a:lstStyle/>
          <a:p>
            <a:r>
              <a:rPr lang="en-US" sz="1200" dirty="0"/>
              <a:t>“Movie only” task: 3 films, 6 min total, 2 min/movie. Rating of </a:t>
            </a:r>
            <a:r>
              <a:rPr lang="en-US" sz="1200" dirty="0" err="1"/>
              <a:t>pos</a:t>
            </a:r>
            <a:r>
              <a:rPr lang="en-US" sz="1200" dirty="0"/>
              <a:t> vs. neg.  </a:t>
            </a:r>
          </a:p>
          <a:p>
            <a:r>
              <a:rPr lang="en-US" sz="1200" dirty="0"/>
              <a:t>After scanning: continuous +  intensity in each emotion category after each</a:t>
            </a:r>
          </a:p>
        </p:txBody>
      </p:sp>
      <p:cxnSp>
        <p:nvCxnSpPr>
          <p:cNvPr id="23" name="Straight Arrow Connector 22">
            <a:extLst>
              <a:ext uri="{FF2B5EF4-FFF2-40B4-BE49-F238E27FC236}">
                <a16:creationId xmlns:a16="http://schemas.microsoft.com/office/drawing/2014/main" id="{4E3F8AFA-8FA6-D44A-8D9F-F42D9ED906E1}"/>
              </a:ext>
            </a:extLst>
          </p:cNvPr>
          <p:cNvCxnSpPr>
            <a:cxnSpLocks/>
          </p:cNvCxnSpPr>
          <p:nvPr/>
        </p:nvCxnSpPr>
        <p:spPr>
          <a:xfrm flipV="1">
            <a:off x="5028800" y="6015789"/>
            <a:ext cx="3608" cy="38571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54049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Pain Modulation Tasks (2)</a:t>
            </a:r>
          </a:p>
        </p:txBody>
      </p:sp>
      <p:sp>
        <p:nvSpPr>
          <p:cNvPr id="44" name="TextBox 43"/>
          <p:cNvSpPr txBox="1"/>
          <p:nvPr/>
        </p:nvSpPr>
        <p:spPr>
          <a:xfrm>
            <a:off x="6264601" y="4040096"/>
            <a:ext cx="2525187" cy="1046440"/>
          </a:xfrm>
          <a:prstGeom prst="rect">
            <a:avLst/>
          </a:prstGeom>
          <a:noFill/>
        </p:spPr>
        <p:txBody>
          <a:bodyPr wrap="square" rtlCol="0">
            <a:spAutoFit/>
          </a:bodyPr>
          <a:lstStyle/>
          <a:p>
            <a:r>
              <a:rPr lang="en-US" dirty="0">
                <a:latin typeface="Helvetica"/>
                <a:cs typeface="Helvetica"/>
              </a:rPr>
              <a:t>pain stimuli:</a:t>
            </a:r>
          </a:p>
          <a:p>
            <a:r>
              <a:rPr lang="en-US" sz="1200" dirty="0">
                <a:latin typeface="Helvetica"/>
                <a:cs typeface="Helvetica"/>
              </a:rPr>
              <a:t>Each block, 4 pre/4 during/4 post</a:t>
            </a:r>
          </a:p>
          <a:p>
            <a:r>
              <a:rPr lang="de-DE" sz="1600" dirty="0">
                <a:latin typeface="Helvetica"/>
                <a:cs typeface="Helvetica"/>
              </a:rPr>
              <a:t>48°, on </a:t>
            </a:r>
            <a:r>
              <a:rPr lang="de-DE" sz="1600" dirty="0" err="1">
                <a:latin typeface="Helvetica"/>
                <a:cs typeface="Helvetica"/>
              </a:rPr>
              <a:t>the</a:t>
            </a:r>
            <a:r>
              <a:rPr lang="de-DE" sz="1600" dirty="0">
                <a:latin typeface="Helvetica"/>
                <a:cs typeface="Helvetica"/>
              </a:rPr>
              <a:t> </a:t>
            </a:r>
            <a:r>
              <a:rPr lang="de-DE" sz="1600" dirty="0" err="1">
                <a:latin typeface="Helvetica"/>
                <a:cs typeface="Helvetica"/>
              </a:rPr>
              <a:t>foot</a:t>
            </a:r>
            <a:r>
              <a:rPr lang="de-DE" sz="1600" dirty="0">
                <a:latin typeface="Helvetica"/>
                <a:cs typeface="Helvetica"/>
              </a:rPr>
              <a:t>,</a:t>
            </a:r>
          </a:p>
          <a:p>
            <a:pPr marL="61913" indent="-61913"/>
            <a:r>
              <a:rPr lang="de-DE" sz="1600" dirty="0">
                <a:latin typeface="Helvetica"/>
                <a:cs typeface="Helvetica"/>
              </a:rPr>
              <a:t>1 </a:t>
            </a:r>
            <a:r>
              <a:rPr lang="de-DE" sz="1600" dirty="0" err="1">
                <a:latin typeface="Helvetica"/>
                <a:cs typeface="Helvetica"/>
              </a:rPr>
              <a:t>skin</a:t>
            </a:r>
            <a:r>
              <a:rPr lang="de-DE" sz="1600" dirty="0">
                <a:latin typeface="Helvetica"/>
                <a:cs typeface="Helvetica"/>
              </a:rPr>
              <a:t> </a:t>
            </a:r>
            <a:r>
              <a:rPr lang="de-DE" sz="1600" dirty="0" err="1">
                <a:latin typeface="Helvetica"/>
                <a:cs typeface="Helvetica"/>
              </a:rPr>
              <a:t>site</a:t>
            </a:r>
            <a:r>
              <a:rPr lang="de-DE" sz="1600" dirty="0">
                <a:latin typeface="Helvetica"/>
                <a:cs typeface="Helvetica"/>
              </a:rPr>
              <a:t> </a:t>
            </a:r>
            <a:r>
              <a:rPr lang="de-DE" sz="1600" dirty="0" err="1">
                <a:latin typeface="Helvetica"/>
                <a:cs typeface="Helvetica"/>
              </a:rPr>
              <a:t>for</a:t>
            </a:r>
            <a:r>
              <a:rPr lang="de-DE" sz="1600" dirty="0">
                <a:latin typeface="Helvetica"/>
                <a:cs typeface="Helvetica"/>
              </a:rPr>
              <a:t> 1 </a:t>
            </a:r>
            <a:r>
              <a:rPr lang="de-DE" sz="1600" dirty="0" err="1">
                <a:latin typeface="Helvetica"/>
                <a:cs typeface="Helvetica"/>
              </a:rPr>
              <a:t>task</a:t>
            </a:r>
            <a:endParaRPr lang="de-DE" sz="1600" dirty="0">
              <a:latin typeface="Helvetica"/>
              <a:cs typeface="Helvetica"/>
            </a:endParaRPr>
          </a:p>
        </p:txBody>
      </p:sp>
      <p:grpSp>
        <p:nvGrpSpPr>
          <p:cNvPr id="3" name="Group 2"/>
          <p:cNvGrpSpPr/>
          <p:nvPr/>
        </p:nvGrpSpPr>
        <p:grpSpPr>
          <a:xfrm>
            <a:off x="259528" y="1706881"/>
            <a:ext cx="8427272" cy="4865988"/>
            <a:chOff x="259528" y="1706881"/>
            <a:chExt cx="8427272" cy="4865988"/>
          </a:xfrm>
        </p:grpSpPr>
        <p:cxnSp>
          <p:nvCxnSpPr>
            <p:cNvPr id="151" name="Straight Connector 150"/>
            <p:cNvCxnSpPr/>
            <p:nvPr/>
          </p:nvCxnSpPr>
          <p:spPr>
            <a:xfrm>
              <a:off x="2477652" y="4470983"/>
              <a:ext cx="5902577" cy="1621633"/>
            </a:xfrm>
            <a:prstGeom prst="line">
              <a:avLst/>
            </a:prstGeom>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57201" y="6332717"/>
              <a:ext cx="7923028" cy="240152"/>
            </a:xfrm>
            <a:prstGeom prst="rect">
              <a:avLst/>
            </a:prstGeom>
            <a:solidFill>
              <a:schemeClr val="accent6">
                <a:lumMod val="40000"/>
                <a:lumOff val="6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rgbClr val="000000"/>
                  </a:solidFill>
                  <a:latin typeface="Helvetica"/>
                  <a:cs typeface="Helvetica"/>
                </a:rPr>
                <a:t>BOLD, SCR, pulse, pupil size</a:t>
              </a:r>
            </a:p>
          </p:txBody>
        </p:sp>
        <p:sp>
          <p:nvSpPr>
            <p:cNvPr id="6" name="Rectangle 5"/>
            <p:cNvSpPr/>
            <p:nvPr/>
          </p:nvSpPr>
          <p:spPr>
            <a:xfrm>
              <a:off x="609236" y="1706881"/>
              <a:ext cx="2398124" cy="1132378"/>
            </a:xfrm>
            <a:prstGeom prst="rect">
              <a:avLst/>
            </a:prstGeom>
            <a:noFill/>
            <a:ln w="28575" cmpd="sng">
              <a:solidFill>
                <a:schemeClr val="tx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effectLst/>
                  <a:latin typeface="Helvetica"/>
                  <a:cs typeface="Helvetica"/>
                </a:rPr>
                <a:t>modulation 1: </a:t>
              </a:r>
            </a:p>
            <a:p>
              <a:pPr algn="ctr"/>
              <a:r>
                <a:rPr lang="en-US" dirty="0">
                  <a:solidFill>
                    <a:schemeClr val="tx1"/>
                  </a:solidFill>
                  <a:effectLst/>
                  <a:latin typeface="Helvetica"/>
                  <a:cs typeface="Helvetica"/>
                </a:rPr>
                <a:t>stress/positive movie</a:t>
              </a:r>
            </a:p>
            <a:p>
              <a:pPr algn="ctr"/>
              <a:r>
                <a:rPr lang="en-US" dirty="0">
                  <a:solidFill>
                    <a:schemeClr val="tx1"/>
                  </a:solidFill>
                  <a:effectLst/>
                  <a:latin typeface="Helvetica"/>
                  <a:cs typeface="Helvetica"/>
                </a:rPr>
                <a:t>or </a:t>
              </a:r>
              <a:r>
                <a:rPr lang="en-US" dirty="0" err="1">
                  <a:solidFill>
                    <a:schemeClr val="tx1"/>
                  </a:solidFill>
                  <a:effectLst/>
                  <a:latin typeface="Helvetica"/>
                  <a:cs typeface="Helvetica"/>
                </a:rPr>
                <a:t>nback</a:t>
              </a:r>
              <a:r>
                <a:rPr lang="en-US" dirty="0">
                  <a:solidFill>
                    <a:schemeClr val="tx1"/>
                  </a:solidFill>
                  <a:effectLst/>
                  <a:latin typeface="Helvetica"/>
                  <a:cs typeface="Helvetica"/>
                </a:rPr>
                <a:t>/negative movie</a:t>
              </a:r>
            </a:p>
          </p:txBody>
        </p:sp>
        <p:cxnSp>
          <p:nvCxnSpPr>
            <p:cNvPr id="12" name="Straight Arrow Connector 11"/>
            <p:cNvCxnSpPr/>
            <p:nvPr/>
          </p:nvCxnSpPr>
          <p:spPr>
            <a:xfrm>
              <a:off x="609894" y="3040734"/>
              <a:ext cx="7883866" cy="0"/>
            </a:xfrm>
            <a:prstGeom prst="straightConnector1">
              <a:avLst/>
            </a:prstGeom>
            <a:ln>
              <a:headEnd type="none"/>
              <a:tailEnd type="none"/>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a:off x="3017653" y="2839258"/>
              <a:ext cx="543577" cy="1166274"/>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flipH="1">
              <a:off x="259528" y="2839258"/>
              <a:ext cx="350367" cy="1166274"/>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09894" y="2986400"/>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3007360" y="2981154"/>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8493760" y="2981154"/>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753732" y="6015262"/>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457200" y="6069596"/>
              <a:ext cx="7923029" cy="4560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2068091" y="6008470"/>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938834" y="6018243"/>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4796715" y="6018630"/>
              <a:ext cx="0" cy="108668"/>
            </a:xfrm>
            <a:prstGeom prst="line">
              <a:avLst/>
            </a:prstGeom>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329524" y="2997972"/>
              <a:ext cx="956965" cy="307777"/>
            </a:xfrm>
            <a:prstGeom prst="rect">
              <a:avLst/>
            </a:prstGeom>
            <a:noFill/>
          </p:spPr>
          <p:txBody>
            <a:bodyPr wrap="square" rtlCol="0">
              <a:spAutoFit/>
            </a:bodyPr>
            <a:lstStyle/>
            <a:p>
              <a:r>
                <a:rPr lang="en-US" sz="1400" dirty="0">
                  <a:latin typeface="Helvetica"/>
                  <a:cs typeface="Helvetica"/>
                </a:rPr>
                <a:t>18min</a:t>
              </a:r>
            </a:p>
          </p:txBody>
        </p:sp>
        <p:sp>
          <p:nvSpPr>
            <p:cNvPr id="35" name="TextBox 34"/>
            <p:cNvSpPr txBox="1"/>
            <p:nvPr/>
          </p:nvSpPr>
          <p:spPr>
            <a:xfrm>
              <a:off x="396240" y="6092616"/>
              <a:ext cx="8290560" cy="261610"/>
            </a:xfrm>
            <a:prstGeom prst="rect">
              <a:avLst/>
            </a:prstGeom>
            <a:noFill/>
          </p:spPr>
          <p:txBody>
            <a:bodyPr wrap="square" rtlCol="0">
              <a:spAutoFit/>
            </a:bodyPr>
            <a:lstStyle/>
            <a:p>
              <a:r>
                <a:rPr lang="en-US" sz="1100" dirty="0"/>
                <a:t>1-4s 1.5s         7.5s            1.5s   17-22s  1.5s         7.5s           1.5s    17-22s    1.5s         7.5s           1.5s      17-22s    1.5s          7.5s         1.5s  17-22s</a:t>
              </a:r>
            </a:p>
          </p:txBody>
        </p:sp>
        <p:cxnSp>
          <p:nvCxnSpPr>
            <p:cNvPr id="42" name="Straight Connector 41"/>
            <p:cNvCxnSpPr/>
            <p:nvPr/>
          </p:nvCxnSpPr>
          <p:spPr>
            <a:xfrm>
              <a:off x="6132464" y="2981154"/>
              <a:ext cx="0" cy="108668"/>
            </a:xfrm>
            <a:prstGeom prst="line">
              <a:avLst/>
            </a:prstGeom>
          </p:spPr>
          <p:style>
            <a:lnRef idx="2">
              <a:schemeClr val="accent1"/>
            </a:lnRef>
            <a:fillRef idx="0">
              <a:schemeClr val="accent1"/>
            </a:fillRef>
            <a:effectRef idx="1">
              <a:schemeClr val="accent1"/>
            </a:effectRef>
            <a:fontRef idx="minor">
              <a:schemeClr val="tx1"/>
            </a:fontRef>
          </p:style>
        </p:cxnSp>
        <p:sp>
          <p:nvSpPr>
            <p:cNvPr id="63" name="Trapezoid 62"/>
            <p:cNvSpPr/>
            <p:nvPr/>
          </p:nvSpPr>
          <p:spPr>
            <a:xfrm>
              <a:off x="760027" y="5565903"/>
              <a:ext cx="1291763" cy="410901"/>
            </a:xfrm>
            <a:prstGeom prst="trapezoid">
              <a:avLst>
                <a:gd name="adj" fmla="val 45894"/>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latin typeface="Helvetica"/>
                  <a:cs typeface="Helvetica"/>
                </a:rPr>
                <a:t>48</a:t>
              </a:r>
              <a:r>
                <a:rPr lang="de-DE" sz="1200" dirty="0">
                  <a:latin typeface="Helvetica"/>
                  <a:cs typeface="Helvetica"/>
                </a:rPr>
                <a:t>°</a:t>
              </a:r>
              <a:r>
                <a:rPr lang="en-US" sz="1200" dirty="0">
                  <a:latin typeface="Helvetica"/>
                  <a:cs typeface="Helvetica"/>
                </a:rPr>
                <a:t>C </a:t>
              </a:r>
            </a:p>
          </p:txBody>
        </p:sp>
        <p:sp>
          <p:nvSpPr>
            <p:cNvPr id="76" name="TextBox 75"/>
            <p:cNvSpPr txBox="1"/>
            <p:nvPr/>
          </p:nvSpPr>
          <p:spPr>
            <a:xfrm>
              <a:off x="1493289" y="3007353"/>
              <a:ext cx="644042" cy="307777"/>
            </a:xfrm>
            <a:prstGeom prst="rect">
              <a:avLst/>
            </a:prstGeom>
            <a:noFill/>
          </p:spPr>
          <p:txBody>
            <a:bodyPr wrap="square" rtlCol="0">
              <a:spAutoFit/>
            </a:bodyPr>
            <a:lstStyle/>
            <a:p>
              <a:r>
                <a:rPr lang="en-US" sz="1400" dirty="0">
                  <a:latin typeface="Helvetica"/>
                  <a:cs typeface="Helvetica"/>
                </a:rPr>
                <a:t>7min</a:t>
              </a:r>
            </a:p>
          </p:txBody>
        </p:sp>
        <p:sp>
          <p:nvSpPr>
            <p:cNvPr id="77" name="Trapezoid 76"/>
            <p:cNvSpPr/>
            <p:nvPr/>
          </p:nvSpPr>
          <p:spPr>
            <a:xfrm>
              <a:off x="2641050" y="5565903"/>
              <a:ext cx="1291763" cy="410901"/>
            </a:xfrm>
            <a:prstGeom prst="trapezoid">
              <a:avLst>
                <a:gd name="adj" fmla="val 45894"/>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latin typeface="Helvetica"/>
                  <a:cs typeface="Helvetica"/>
                </a:rPr>
                <a:t>48</a:t>
              </a:r>
              <a:r>
                <a:rPr lang="de-DE" sz="1200" dirty="0">
                  <a:latin typeface="Helvetica"/>
                  <a:cs typeface="Helvetica"/>
                </a:rPr>
                <a:t>°</a:t>
              </a:r>
              <a:r>
                <a:rPr lang="en-US" sz="1200" dirty="0">
                  <a:latin typeface="Helvetica"/>
                  <a:cs typeface="Helvetica"/>
                </a:rPr>
                <a:t>C </a:t>
              </a:r>
            </a:p>
          </p:txBody>
        </p:sp>
        <p:cxnSp>
          <p:nvCxnSpPr>
            <p:cNvPr id="79" name="Straight Connector 78"/>
            <p:cNvCxnSpPr/>
            <p:nvPr/>
          </p:nvCxnSpPr>
          <p:spPr>
            <a:xfrm>
              <a:off x="3937916" y="6006528"/>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93" name="Straight Connector 92"/>
            <p:cNvCxnSpPr/>
            <p:nvPr/>
          </p:nvCxnSpPr>
          <p:spPr>
            <a:xfrm>
              <a:off x="5890374" y="6016688"/>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94" name="Straight Connector 93"/>
            <p:cNvCxnSpPr/>
            <p:nvPr/>
          </p:nvCxnSpPr>
          <p:spPr>
            <a:xfrm>
              <a:off x="6667148" y="6022706"/>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96" name="Straight Connector 95"/>
            <p:cNvCxnSpPr/>
            <p:nvPr/>
          </p:nvCxnSpPr>
          <p:spPr>
            <a:xfrm>
              <a:off x="1905008" y="6006528"/>
              <a:ext cx="0" cy="108668"/>
            </a:xfrm>
            <a:prstGeom prst="line">
              <a:avLst/>
            </a:prstGeom>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7137053" y="3011627"/>
              <a:ext cx="741134" cy="307777"/>
            </a:xfrm>
            <a:prstGeom prst="rect">
              <a:avLst/>
            </a:prstGeom>
            <a:noFill/>
          </p:spPr>
          <p:txBody>
            <a:bodyPr wrap="square" rtlCol="0">
              <a:spAutoFit/>
            </a:bodyPr>
            <a:lstStyle/>
            <a:p>
              <a:r>
                <a:rPr lang="en-US" sz="1400" dirty="0">
                  <a:latin typeface="Helvetica"/>
                  <a:cs typeface="Helvetica"/>
                </a:rPr>
                <a:t>7min</a:t>
              </a:r>
            </a:p>
          </p:txBody>
        </p:sp>
        <p:sp>
          <p:nvSpPr>
            <p:cNvPr id="108" name="Rectangle 107"/>
            <p:cNvSpPr/>
            <p:nvPr/>
          </p:nvSpPr>
          <p:spPr>
            <a:xfrm>
              <a:off x="3058159" y="1706881"/>
              <a:ext cx="3017779" cy="1132378"/>
            </a:xfrm>
            <a:prstGeom prst="rect">
              <a:avLst/>
            </a:prstGeom>
            <a:solidFill>
              <a:srgbClr val="FFFFFF"/>
            </a:solidFill>
            <a:ln w="28575" cmpd="sng">
              <a:solidFill>
                <a:srgbClr val="4F81B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effectLst/>
                  <a:latin typeface="Helvetica"/>
                  <a:cs typeface="Helvetica"/>
                </a:rPr>
                <a:t>movies </a:t>
              </a:r>
            </a:p>
          </p:txBody>
        </p:sp>
        <p:sp>
          <p:nvSpPr>
            <p:cNvPr id="102" name="Rectangle 101"/>
            <p:cNvSpPr/>
            <p:nvPr/>
          </p:nvSpPr>
          <p:spPr>
            <a:xfrm>
              <a:off x="6126739" y="1706881"/>
              <a:ext cx="2367021" cy="1132378"/>
            </a:xfrm>
            <a:prstGeom prst="rect">
              <a:avLst/>
            </a:prstGeom>
            <a:noFill/>
            <a:ln w="28575" cmpd="sng">
              <a:solidFill>
                <a:schemeClr val="tx2">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tx1"/>
                  </a:solidFill>
                  <a:effectLst/>
                  <a:latin typeface="Helvetica"/>
                  <a:cs typeface="Helvetica"/>
                </a:rPr>
                <a:t>modulation 2: </a:t>
              </a:r>
            </a:p>
            <a:p>
              <a:pPr algn="ctr"/>
              <a:r>
                <a:rPr lang="en-US" dirty="0">
                  <a:solidFill>
                    <a:schemeClr val="tx1"/>
                  </a:solidFill>
                  <a:effectLst/>
                  <a:latin typeface="Helvetica"/>
                  <a:cs typeface="Helvetica"/>
                </a:rPr>
                <a:t>stress/positive movie</a:t>
              </a:r>
            </a:p>
            <a:p>
              <a:pPr algn="ctr"/>
              <a:r>
                <a:rPr lang="en-US" dirty="0">
                  <a:solidFill>
                    <a:schemeClr val="tx1"/>
                  </a:solidFill>
                  <a:effectLst/>
                  <a:latin typeface="Helvetica"/>
                  <a:cs typeface="Helvetica"/>
                </a:rPr>
                <a:t>or </a:t>
              </a:r>
              <a:r>
                <a:rPr lang="en-US" dirty="0" err="1">
                  <a:solidFill>
                    <a:schemeClr val="tx1"/>
                  </a:solidFill>
                  <a:effectLst/>
                  <a:latin typeface="Helvetica"/>
                  <a:cs typeface="Helvetica"/>
                </a:rPr>
                <a:t>nback</a:t>
              </a:r>
              <a:r>
                <a:rPr lang="en-US" dirty="0">
                  <a:solidFill>
                    <a:schemeClr val="tx1"/>
                  </a:solidFill>
                  <a:effectLst/>
                  <a:latin typeface="Helvetica"/>
                  <a:cs typeface="Helvetica"/>
                </a:rPr>
                <a:t>/negative movie</a:t>
              </a:r>
            </a:p>
          </p:txBody>
        </p:sp>
        <p:sp>
          <p:nvSpPr>
            <p:cNvPr id="8" name="Rectangle 7"/>
            <p:cNvSpPr/>
            <p:nvPr/>
          </p:nvSpPr>
          <p:spPr>
            <a:xfrm>
              <a:off x="259529" y="4005532"/>
              <a:ext cx="980506" cy="431471"/>
            </a:xfrm>
            <a:prstGeom prst="rect">
              <a:avLst/>
            </a:prstGeom>
          </p:spPr>
          <p:style>
            <a:lnRef idx="1">
              <a:schemeClr val="accent1"/>
            </a:lnRef>
            <a:fillRef idx="3">
              <a:schemeClr val="accent1"/>
            </a:fillRef>
            <a:effectRef idx="2">
              <a:schemeClr val="accent1"/>
            </a:effectRef>
            <a:fontRef idx="minor">
              <a:schemeClr val="lt1"/>
            </a:fontRef>
          </p:style>
          <p:txBody>
            <a:bodyPr rtlCol="0" anchor="b"/>
            <a:lstStyle/>
            <a:p>
              <a:pPr algn="ctr"/>
              <a:r>
                <a:rPr lang="en-US" dirty="0">
                  <a:latin typeface="Helvetica"/>
                  <a:cs typeface="Helvetica"/>
                </a:rPr>
                <a:t>pre</a:t>
              </a:r>
            </a:p>
          </p:txBody>
        </p:sp>
        <p:sp>
          <p:nvSpPr>
            <p:cNvPr id="105" name="Rectangle 104"/>
            <p:cNvSpPr/>
            <p:nvPr/>
          </p:nvSpPr>
          <p:spPr>
            <a:xfrm>
              <a:off x="1390443" y="3325131"/>
              <a:ext cx="1100915" cy="1118123"/>
            </a:xfrm>
            <a:prstGeom prst="rect">
              <a:avLst/>
            </a:prstGeom>
          </p:spPr>
          <p:style>
            <a:lnRef idx="1">
              <a:schemeClr val="accent1"/>
            </a:lnRef>
            <a:fillRef idx="3">
              <a:schemeClr val="accent1"/>
            </a:fillRef>
            <a:effectRef idx="2">
              <a:schemeClr val="accent1"/>
            </a:effectRef>
            <a:fontRef idx="minor">
              <a:schemeClr val="lt1"/>
            </a:fontRef>
          </p:style>
          <p:txBody>
            <a:bodyPr rtlCol="0" anchor="b"/>
            <a:lstStyle/>
            <a:p>
              <a:pPr algn="ctr"/>
              <a:r>
                <a:rPr lang="en-US" dirty="0" err="1">
                  <a:latin typeface="Helvetica"/>
                  <a:cs typeface="Helvetica"/>
                </a:rPr>
                <a:t>modu-lator</a:t>
              </a:r>
              <a:endParaRPr lang="en-US" dirty="0">
                <a:latin typeface="Helvetica"/>
                <a:cs typeface="Helvetica"/>
              </a:endParaRPr>
            </a:p>
          </p:txBody>
        </p:sp>
        <p:sp>
          <p:nvSpPr>
            <p:cNvPr id="106" name="Rectangle 105"/>
            <p:cNvSpPr/>
            <p:nvPr/>
          </p:nvSpPr>
          <p:spPr>
            <a:xfrm>
              <a:off x="2641050" y="4005561"/>
              <a:ext cx="937517" cy="431471"/>
            </a:xfrm>
            <a:prstGeom prst="rect">
              <a:avLst/>
            </a:prstGeom>
          </p:spPr>
          <p:style>
            <a:lnRef idx="1">
              <a:schemeClr val="accent1"/>
            </a:lnRef>
            <a:fillRef idx="3">
              <a:schemeClr val="accent1"/>
            </a:fillRef>
            <a:effectRef idx="2">
              <a:schemeClr val="accent1"/>
            </a:effectRef>
            <a:fontRef idx="minor">
              <a:schemeClr val="lt1"/>
            </a:fontRef>
          </p:style>
          <p:txBody>
            <a:bodyPr rtlCol="0" anchor="b"/>
            <a:lstStyle/>
            <a:p>
              <a:pPr algn="ctr"/>
              <a:r>
                <a:rPr lang="en-US" dirty="0">
                  <a:latin typeface="Helvetica"/>
                  <a:cs typeface="Helvetica"/>
                </a:rPr>
                <a:t>post</a:t>
              </a:r>
            </a:p>
          </p:txBody>
        </p:sp>
        <p:cxnSp>
          <p:nvCxnSpPr>
            <p:cNvPr id="133" name="Straight Connector 132"/>
            <p:cNvCxnSpPr/>
            <p:nvPr/>
          </p:nvCxnSpPr>
          <p:spPr>
            <a:xfrm>
              <a:off x="279772" y="4444992"/>
              <a:ext cx="0" cy="219906"/>
            </a:xfrm>
            <a:prstGeom prst="line">
              <a:avLst/>
            </a:prstGeom>
          </p:spPr>
          <p:style>
            <a:lnRef idx="2">
              <a:schemeClr val="accent1"/>
            </a:lnRef>
            <a:fillRef idx="0">
              <a:schemeClr val="accent1"/>
            </a:fillRef>
            <a:effectRef idx="1">
              <a:schemeClr val="accent1"/>
            </a:effectRef>
            <a:fontRef idx="minor">
              <a:schemeClr val="tx1"/>
            </a:fontRef>
          </p:style>
        </p:cxnSp>
        <p:cxnSp>
          <p:nvCxnSpPr>
            <p:cNvPr id="134" name="Straight Connector 133"/>
            <p:cNvCxnSpPr/>
            <p:nvPr/>
          </p:nvCxnSpPr>
          <p:spPr>
            <a:xfrm>
              <a:off x="261089" y="4559764"/>
              <a:ext cx="3317478"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5" name="Straight Connector 134"/>
            <p:cNvCxnSpPr/>
            <p:nvPr/>
          </p:nvCxnSpPr>
          <p:spPr>
            <a:xfrm>
              <a:off x="3572883" y="4439658"/>
              <a:ext cx="0" cy="219906"/>
            </a:xfrm>
            <a:prstGeom prst="line">
              <a:avLst/>
            </a:prstGeom>
          </p:spPr>
          <p:style>
            <a:lnRef idx="2">
              <a:schemeClr val="accent1"/>
            </a:lnRef>
            <a:fillRef idx="0">
              <a:schemeClr val="accent1"/>
            </a:fillRef>
            <a:effectRef idx="1">
              <a:schemeClr val="accent1"/>
            </a:effectRef>
            <a:fontRef idx="minor">
              <a:schemeClr val="tx1"/>
            </a:fontRef>
          </p:style>
        </p:cxnSp>
        <p:cxnSp>
          <p:nvCxnSpPr>
            <p:cNvPr id="136" name="Straight Connector 135"/>
            <p:cNvCxnSpPr/>
            <p:nvPr/>
          </p:nvCxnSpPr>
          <p:spPr>
            <a:xfrm>
              <a:off x="1245239" y="4447973"/>
              <a:ext cx="0" cy="219906"/>
            </a:xfrm>
            <a:prstGeom prst="line">
              <a:avLst/>
            </a:prstGeom>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457200" y="4591513"/>
              <a:ext cx="592829" cy="307777"/>
            </a:xfrm>
            <a:prstGeom prst="rect">
              <a:avLst/>
            </a:prstGeom>
            <a:noFill/>
          </p:spPr>
          <p:txBody>
            <a:bodyPr wrap="square" rtlCol="0">
              <a:spAutoFit/>
            </a:bodyPr>
            <a:lstStyle/>
            <a:p>
              <a:r>
                <a:rPr lang="en-US" sz="1400" dirty="0">
                  <a:latin typeface="Helvetica"/>
                  <a:cs typeface="Helvetica"/>
                </a:rPr>
                <a:t>2min</a:t>
              </a:r>
            </a:p>
          </p:txBody>
        </p:sp>
        <p:cxnSp>
          <p:nvCxnSpPr>
            <p:cNvPr id="145" name="Straight Connector 144"/>
            <p:cNvCxnSpPr/>
            <p:nvPr/>
          </p:nvCxnSpPr>
          <p:spPr>
            <a:xfrm>
              <a:off x="2490110" y="4446418"/>
              <a:ext cx="0" cy="219906"/>
            </a:xfrm>
            <a:prstGeom prst="line">
              <a:avLst/>
            </a:prstGeom>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1588860" y="4585923"/>
              <a:ext cx="675973" cy="307777"/>
            </a:xfrm>
            <a:prstGeom prst="rect">
              <a:avLst/>
            </a:prstGeom>
            <a:noFill/>
          </p:spPr>
          <p:txBody>
            <a:bodyPr wrap="square" rtlCol="0">
              <a:spAutoFit/>
            </a:bodyPr>
            <a:lstStyle/>
            <a:p>
              <a:r>
                <a:rPr lang="en-US" sz="1400" dirty="0">
                  <a:latin typeface="Helvetica"/>
                  <a:cs typeface="Helvetica"/>
                </a:rPr>
                <a:t>2min</a:t>
              </a:r>
            </a:p>
          </p:txBody>
        </p:sp>
        <p:sp>
          <p:nvSpPr>
            <p:cNvPr id="149" name="TextBox 148"/>
            <p:cNvSpPr txBox="1"/>
            <p:nvPr/>
          </p:nvSpPr>
          <p:spPr>
            <a:xfrm>
              <a:off x="2779399" y="4587396"/>
              <a:ext cx="691933" cy="307777"/>
            </a:xfrm>
            <a:prstGeom prst="rect">
              <a:avLst/>
            </a:prstGeom>
            <a:noFill/>
          </p:spPr>
          <p:txBody>
            <a:bodyPr wrap="square" rtlCol="0">
              <a:spAutoFit/>
            </a:bodyPr>
            <a:lstStyle/>
            <a:p>
              <a:r>
                <a:rPr lang="en-US" sz="1400" dirty="0">
                  <a:latin typeface="Helvetica"/>
                  <a:cs typeface="Helvetica"/>
                </a:rPr>
                <a:t>2min</a:t>
              </a:r>
            </a:p>
          </p:txBody>
        </p:sp>
        <p:cxnSp>
          <p:nvCxnSpPr>
            <p:cNvPr id="150" name="Straight Connector 149"/>
            <p:cNvCxnSpPr/>
            <p:nvPr/>
          </p:nvCxnSpPr>
          <p:spPr>
            <a:xfrm flipH="1">
              <a:off x="457201" y="4470983"/>
              <a:ext cx="903242" cy="1535545"/>
            </a:xfrm>
            <a:prstGeom prst="line">
              <a:avLst/>
            </a:prstGeom>
          </p:spPr>
          <p:style>
            <a:lnRef idx="2">
              <a:schemeClr val="accent1"/>
            </a:lnRef>
            <a:fillRef idx="0">
              <a:schemeClr val="accent1"/>
            </a:fillRef>
            <a:effectRef idx="1">
              <a:schemeClr val="accent1"/>
            </a:effectRef>
            <a:fontRef idx="minor">
              <a:schemeClr val="tx1"/>
            </a:fontRef>
          </p:style>
        </p:cxnSp>
        <p:sp>
          <p:nvSpPr>
            <p:cNvPr id="152" name="Trapezoid 151"/>
            <p:cNvSpPr/>
            <p:nvPr/>
          </p:nvSpPr>
          <p:spPr>
            <a:xfrm>
              <a:off x="4597533" y="5565903"/>
              <a:ext cx="1291763" cy="410901"/>
            </a:xfrm>
            <a:prstGeom prst="trapezoid">
              <a:avLst>
                <a:gd name="adj" fmla="val 45894"/>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latin typeface="Helvetica"/>
                  <a:cs typeface="Helvetica"/>
                </a:rPr>
                <a:t>48</a:t>
              </a:r>
              <a:r>
                <a:rPr lang="de-DE" sz="1200" dirty="0">
                  <a:latin typeface="Helvetica"/>
                  <a:cs typeface="Helvetica"/>
                </a:rPr>
                <a:t>°</a:t>
              </a:r>
              <a:r>
                <a:rPr lang="en-US" sz="1200" dirty="0">
                  <a:latin typeface="Helvetica"/>
                  <a:cs typeface="Helvetica"/>
                </a:rPr>
                <a:t>C </a:t>
              </a:r>
            </a:p>
          </p:txBody>
        </p:sp>
        <p:cxnSp>
          <p:nvCxnSpPr>
            <p:cNvPr id="153" name="Straight Connector 152"/>
            <p:cNvCxnSpPr/>
            <p:nvPr/>
          </p:nvCxnSpPr>
          <p:spPr>
            <a:xfrm>
              <a:off x="2662223" y="6015162"/>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4" name="Straight Connector 153"/>
            <p:cNvCxnSpPr/>
            <p:nvPr/>
          </p:nvCxnSpPr>
          <p:spPr>
            <a:xfrm>
              <a:off x="2842003" y="6015262"/>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5" name="Straight Connector 154"/>
            <p:cNvCxnSpPr/>
            <p:nvPr/>
          </p:nvCxnSpPr>
          <p:spPr>
            <a:xfrm>
              <a:off x="5730933" y="6014428"/>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6" name="Straight Connector 155"/>
            <p:cNvCxnSpPr/>
            <p:nvPr/>
          </p:nvCxnSpPr>
          <p:spPr>
            <a:xfrm>
              <a:off x="3801230" y="6016688"/>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7" name="Straight Connector 156"/>
            <p:cNvCxnSpPr/>
            <p:nvPr/>
          </p:nvCxnSpPr>
          <p:spPr>
            <a:xfrm>
              <a:off x="457200" y="6006528"/>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158" name="Straight Connector 157"/>
            <p:cNvCxnSpPr/>
            <p:nvPr/>
          </p:nvCxnSpPr>
          <p:spPr>
            <a:xfrm>
              <a:off x="4607773" y="6006528"/>
              <a:ext cx="0" cy="108668"/>
            </a:xfrm>
            <a:prstGeom prst="line">
              <a:avLst/>
            </a:prstGeom>
          </p:spPr>
          <p:style>
            <a:lnRef idx="2">
              <a:schemeClr val="accent1"/>
            </a:lnRef>
            <a:fillRef idx="0">
              <a:schemeClr val="accent1"/>
            </a:fillRef>
            <a:effectRef idx="1">
              <a:schemeClr val="accent1"/>
            </a:effectRef>
            <a:fontRef idx="minor">
              <a:schemeClr val="tx1"/>
            </a:fontRef>
          </p:style>
        </p:cxnSp>
        <p:sp>
          <p:nvSpPr>
            <p:cNvPr id="86" name="Trapezoid 85"/>
            <p:cNvSpPr/>
            <p:nvPr/>
          </p:nvSpPr>
          <p:spPr>
            <a:xfrm>
              <a:off x="6639890" y="5565903"/>
              <a:ext cx="1291763" cy="410901"/>
            </a:xfrm>
            <a:prstGeom prst="trapezoid">
              <a:avLst>
                <a:gd name="adj" fmla="val 45894"/>
              </a:avLst>
            </a:prstGeom>
            <a:solidFill>
              <a:schemeClr val="accent2"/>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latin typeface="Helvetica"/>
                  <a:cs typeface="Helvetica"/>
                </a:rPr>
                <a:t>48</a:t>
              </a:r>
              <a:r>
                <a:rPr lang="de-DE" sz="1200" dirty="0">
                  <a:latin typeface="Helvetica"/>
                  <a:cs typeface="Helvetica"/>
                </a:rPr>
                <a:t>°</a:t>
              </a:r>
              <a:r>
                <a:rPr lang="en-US" sz="1200" dirty="0">
                  <a:latin typeface="Helvetica"/>
                  <a:cs typeface="Helvetica"/>
                </a:rPr>
                <a:t>C </a:t>
              </a:r>
            </a:p>
          </p:txBody>
        </p:sp>
        <p:cxnSp>
          <p:nvCxnSpPr>
            <p:cNvPr id="91" name="Straight Connector 90"/>
            <p:cNvCxnSpPr/>
            <p:nvPr/>
          </p:nvCxnSpPr>
          <p:spPr>
            <a:xfrm>
              <a:off x="6819548" y="6022706"/>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92" name="Straight Connector 91"/>
            <p:cNvCxnSpPr/>
            <p:nvPr/>
          </p:nvCxnSpPr>
          <p:spPr>
            <a:xfrm>
              <a:off x="7754268" y="6022706"/>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95" name="Straight Connector 94"/>
            <p:cNvCxnSpPr/>
            <p:nvPr/>
          </p:nvCxnSpPr>
          <p:spPr>
            <a:xfrm>
              <a:off x="7916828" y="6022706"/>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101" name="Straight Connector 100"/>
            <p:cNvCxnSpPr/>
            <p:nvPr/>
          </p:nvCxnSpPr>
          <p:spPr>
            <a:xfrm>
              <a:off x="8374508" y="6045093"/>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109" name="Straight Connector 108"/>
            <p:cNvCxnSpPr/>
            <p:nvPr/>
          </p:nvCxnSpPr>
          <p:spPr>
            <a:xfrm>
              <a:off x="1387639" y="4450358"/>
              <a:ext cx="0" cy="219906"/>
            </a:xfrm>
            <a:prstGeom prst="line">
              <a:avLst/>
            </a:prstGeom>
          </p:spPr>
          <p:style>
            <a:lnRef idx="2">
              <a:schemeClr val="accent1"/>
            </a:lnRef>
            <a:fillRef idx="0">
              <a:schemeClr val="accent1"/>
            </a:fillRef>
            <a:effectRef idx="1">
              <a:schemeClr val="accent1"/>
            </a:effectRef>
            <a:fontRef idx="minor">
              <a:schemeClr val="tx1"/>
            </a:fontRef>
          </p:style>
        </p:cxnSp>
        <p:cxnSp>
          <p:nvCxnSpPr>
            <p:cNvPr id="110" name="Straight Connector 109"/>
            <p:cNvCxnSpPr/>
            <p:nvPr/>
          </p:nvCxnSpPr>
          <p:spPr>
            <a:xfrm>
              <a:off x="2641050" y="4447973"/>
              <a:ext cx="0" cy="219906"/>
            </a:xfrm>
            <a:prstGeom prst="line">
              <a:avLst/>
            </a:prstGeom>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81290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Emotional Movies Task: </a:t>
            </a:r>
            <a:br>
              <a:rPr lang="en-US" dirty="0"/>
            </a:br>
            <a:r>
              <a:rPr lang="en-US" dirty="0"/>
              <a:t>In scanner part</a:t>
            </a:r>
          </a:p>
        </p:txBody>
      </p:sp>
      <p:sp>
        <p:nvSpPr>
          <p:cNvPr id="38" name="Rectangle 37"/>
          <p:cNvSpPr/>
          <p:nvPr/>
        </p:nvSpPr>
        <p:spPr>
          <a:xfrm>
            <a:off x="556366" y="3677903"/>
            <a:ext cx="131925" cy="350687"/>
          </a:xfrm>
          <a:prstGeom prst="rect">
            <a:avLst/>
          </a:prstGeom>
          <a:solidFill>
            <a:schemeClr val="accent2">
              <a:lumMod val="75000"/>
            </a:schemeClr>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p>
        </p:txBody>
      </p:sp>
      <p:sp>
        <p:nvSpPr>
          <p:cNvPr id="39" name="TextBox 38"/>
          <p:cNvSpPr txBox="1"/>
          <p:nvPr/>
        </p:nvSpPr>
        <p:spPr>
          <a:xfrm>
            <a:off x="629316" y="3529159"/>
            <a:ext cx="4624525" cy="584776"/>
          </a:xfrm>
          <a:prstGeom prst="rect">
            <a:avLst/>
          </a:prstGeom>
          <a:noFill/>
        </p:spPr>
        <p:txBody>
          <a:bodyPr wrap="square" rtlCol="0">
            <a:spAutoFit/>
          </a:bodyPr>
          <a:lstStyle/>
          <a:p>
            <a:r>
              <a:rPr lang="en-US" dirty="0"/>
              <a:t>How negative or positive do you feel right now?</a:t>
            </a:r>
          </a:p>
          <a:p>
            <a:r>
              <a:rPr lang="en-US" sz="1400" dirty="0"/>
              <a:t>negative ---- neutral ---- positive (VAS scale)</a:t>
            </a:r>
          </a:p>
        </p:txBody>
      </p:sp>
      <p:grpSp>
        <p:nvGrpSpPr>
          <p:cNvPr id="53" name="Group 52"/>
          <p:cNvGrpSpPr/>
          <p:nvPr/>
        </p:nvGrpSpPr>
        <p:grpSpPr>
          <a:xfrm>
            <a:off x="168345" y="1670533"/>
            <a:ext cx="8810033" cy="1758467"/>
            <a:chOff x="168345" y="1670533"/>
            <a:chExt cx="8810033" cy="1758467"/>
          </a:xfrm>
        </p:grpSpPr>
        <p:sp>
          <p:nvSpPr>
            <p:cNvPr id="5" name="Rectangle 4"/>
            <p:cNvSpPr/>
            <p:nvPr/>
          </p:nvSpPr>
          <p:spPr>
            <a:xfrm>
              <a:off x="3533010" y="1670533"/>
              <a:ext cx="1752595" cy="338837"/>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movies</a:t>
              </a:r>
            </a:p>
          </p:txBody>
        </p:sp>
        <p:sp>
          <p:nvSpPr>
            <p:cNvPr id="6" name="Rectangle 5"/>
            <p:cNvSpPr/>
            <p:nvPr/>
          </p:nvSpPr>
          <p:spPr>
            <a:xfrm>
              <a:off x="168345" y="2447956"/>
              <a:ext cx="840219" cy="349924"/>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loss</a:t>
              </a:r>
            </a:p>
          </p:txBody>
        </p:sp>
        <p:sp>
          <p:nvSpPr>
            <p:cNvPr id="7" name="Rectangle 6"/>
            <p:cNvSpPr/>
            <p:nvPr/>
          </p:nvSpPr>
          <p:spPr>
            <a:xfrm>
              <a:off x="6056327" y="2447193"/>
              <a:ext cx="840219" cy="349924"/>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disgust</a:t>
              </a:r>
            </a:p>
          </p:txBody>
        </p:sp>
        <p:sp>
          <p:nvSpPr>
            <p:cNvPr id="8" name="Rectangle 7"/>
            <p:cNvSpPr/>
            <p:nvPr/>
          </p:nvSpPr>
          <p:spPr>
            <a:xfrm>
              <a:off x="7035948" y="2447956"/>
              <a:ext cx="840219" cy="349924"/>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anger</a:t>
              </a:r>
            </a:p>
          </p:txBody>
        </p:sp>
        <p:cxnSp>
          <p:nvCxnSpPr>
            <p:cNvPr id="9" name="Straight Arrow Connector 8"/>
            <p:cNvCxnSpPr/>
            <p:nvPr/>
          </p:nvCxnSpPr>
          <p:spPr>
            <a:xfrm>
              <a:off x="168345" y="3092170"/>
              <a:ext cx="8807309" cy="0"/>
            </a:xfrm>
            <a:prstGeom prst="straightConnector1">
              <a:avLst/>
            </a:prstGeom>
            <a:ln>
              <a:headEnd type="none"/>
              <a:tailEnd type="none"/>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a:off x="176022" y="3027617"/>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1006809" y="3028962"/>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a:off x="2978522" y="3035973"/>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p:nvCxnSpPr>
          <p:spPr>
            <a:xfrm>
              <a:off x="1983580" y="3031781"/>
              <a:ext cx="0" cy="108668"/>
            </a:xfrm>
            <a:prstGeom prst="line">
              <a:avLst/>
            </a:prstGeom>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76022" y="3167390"/>
              <a:ext cx="8798323" cy="261610"/>
            </a:xfrm>
            <a:prstGeom prst="rect">
              <a:avLst/>
            </a:prstGeom>
            <a:noFill/>
          </p:spPr>
          <p:txBody>
            <a:bodyPr wrap="square" rtlCol="0">
              <a:spAutoFit/>
            </a:bodyPr>
            <a:lstStyle/>
            <a:p>
              <a:r>
                <a:rPr lang="en-US" sz="1100" dirty="0"/>
                <a:t>        2min	        2min	         2min	           2min		2min		  2min		   2min		      2min	        2min</a:t>
              </a:r>
            </a:p>
          </p:txBody>
        </p:sp>
        <p:sp>
          <p:nvSpPr>
            <p:cNvPr id="15" name="Rectangle 14"/>
            <p:cNvSpPr/>
            <p:nvPr/>
          </p:nvSpPr>
          <p:spPr>
            <a:xfrm>
              <a:off x="8013705" y="2447956"/>
              <a:ext cx="840219" cy="349924"/>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loss</a:t>
              </a:r>
            </a:p>
          </p:txBody>
        </p:sp>
        <p:sp>
          <p:nvSpPr>
            <p:cNvPr id="16" name="Rectangle 15"/>
            <p:cNvSpPr/>
            <p:nvPr/>
          </p:nvSpPr>
          <p:spPr>
            <a:xfrm>
              <a:off x="3116379" y="2447956"/>
              <a:ext cx="840219" cy="349924"/>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disgust</a:t>
              </a:r>
            </a:p>
          </p:txBody>
        </p:sp>
        <p:sp>
          <p:nvSpPr>
            <p:cNvPr id="17" name="Rectangle 16"/>
            <p:cNvSpPr/>
            <p:nvPr/>
          </p:nvSpPr>
          <p:spPr>
            <a:xfrm>
              <a:off x="4096000" y="2447956"/>
              <a:ext cx="840219" cy="349924"/>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anger</a:t>
              </a:r>
            </a:p>
          </p:txBody>
        </p:sp>
        <p:sp>
          <p:nvSpPr>
            <p:cNvPr id="18" name="Rectangle 17"/>
            <p:cNvSpPr/>
            <p:nvPr/>
          </p:nvSpPr>
          <p:spPr>
            <a:xfrm>
              <a:off x="5076706" y="2447193"/>
              <a:ext cx="840219" cy="349924"/>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loss</a:t>
              </a:r>
            </a:p>
          </p:txBody>
        </p:sp>
        <p:sp>
          <p:nvSpPr>
            <p:cNvPr id="19" name="Rectangle 18"/>
            <p:cNvSpPr/>
            <p:nvPr/>
          </p:nvSpPr>
          <p:spPr>
            <a:xfrm>
              <a:off x="1150944" y="2447193"/>
              <a:ext cx="840219" cy="349924"/>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disgust</a:t>
              </a:r>
            </a:p>
          </p:txBody>
        </p:sp>
        <p:sp>
          <p:nvSpPr>
            <p:cNvPr id="20" name="Rectangle 19"/>
            <p:cNvSpPr/>
            <p:nvPr/>
          </p:nvSpPr>
          <p:spPr>
            <a:xfrm>
              <a:off x="2133543" y="2447193"/>
              <a:ext cx="840219" cy="349924"/>
            </a:xfrm>
            <a:prstGeom prst="rect">
              <a:avLst/>
            </a:prstGeom>
            <a:solidFill>
              <a:schemeClr val="accent5">
                <a:lumMod val="75000"/>
              </a:schemeClr>
            </a:solidFill>
            <a:ln>
              <a:solidFill>
                <a:srgbClr val="4F81B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anger</a:t>
              </a:r>
            </a:p>
          </p:txBody>
        </p:sp>
        <p:cxnSp>
          <p:nvCxnSpPr>
            <p:cNvPr id="21" name="Straight Connector 20"/>
            <p:cNvCxnSpPr/>
            <p:nvPr/>
          </p:nvCxnSpPr>
          <p:spPr>
            <a:xfrm>
              <a:off x="3962320" y="3035973"/>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4948026" y="3035973"/>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5921685" y="3043832"/>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7042033" y="3037836"/>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8022962" y="3037836"/>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8974346" y="3035476"/>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Arrow Connector 26"/>
            <p:cNvCxnSpPr/>
            <p:nvPr/>
          </p:nvCxnSpPr>
          <p:spPr>
            <a:xfrm flipV="1">
              <a:off x="176022" y="2009371"/>
              <a:ext cx="3356988" cy="438585"/>
            </a:xfrm>
            <a:prstGeom prst="straightConnector1">
              <a:avLst/>
            </a:prstGeom>
            <a:ln>
              <a:headEnd type="none"/>
              <a:tailEnd type="none"/>
            </a:ln>
          </p:spPr>
          <p:style>
            <a:lnRef idx="2">
              <a:schemeClr val="accent1"/>
            </a:lnRef>
            <a:fillRef idx="0">
              <a:schemeClr val="accent1"/>
            </a:fillRef>
            <a:effectRef idx="1">
              <a:schemeClr val="accent1"/>
            </a:effectRef>
            <a:fontRef idx="minor">
              <a:schemeClr val="tx1"/>
            </a:fontRef>
          </p:style>
        </p:cxnSp>
        <p:cxnSp>
          <p:nvCxnSpPr>
            <p:cNvPr id="28" name="Straight Arrow Connector 27"/>
            <p:cNvCxnSpPr/>
            <p:nvPr/>
          </p:nvCxnSpPr>
          <p:spPr>
            <a:xfrm>
              <a:off x="5285605" y="2009370"/>
              <a:ext cx="3692773" cy="437060"/>
            </a:xfrm>
            <a:prstGeom prst="straightConnector1">
              <a:avLst/>
            </a:prstGeom>
            <a:ln>
              <a:headEnd type="none"/>
              <a:tailEnd type="none"/>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008564" y="2447193"/>
              <a:ext cx="131925" cy="350687"/>
            </a:xfrm>
            <a:prstGeom prst="rect">
              <a:avLst/>
            </a:prstGeom>
            <a:solidFill>
              <a:schemeClr val="accent2">
                <a:lumMod val="75000"/>
              </a:schemeClr>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p>
          </p:txBody>
        </p:sp>
        <p:sp>
          <p:nvSpPr>
            <p:cNvPr id="30" name="Rectangle 29"/>
            <p:cNvSpPr/>
            <p:nvPr/>
          </p:nvSpPr>
          <p:spPr>
            <a:xfrm>
              <a:off x="1991163" y="2446430"/>
              <a:ext cx="131925" cy="350687"/>
            </a:xfrm>
            <a:prstGeom prst="rect">
              <a:avLst/>
            </a:prstGeom>
            <a:solidFill>
              <a:schemeClr val="accent2">
                <a:lumMod val="75000"/>
              </a:schemeClr>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p>
          </p:txBody>
        </p:sp>
        <p:sp>
          <p:nvSpPr>
            <p:cNvPr id="31" name="Rectangle 30"/>
            <p:cNvSpPr/>
            <p:nvPr/>
          </p:nvSpPr>
          <p:spPr>
            <a:xfrm>
              <a:off x="2969512" y="2446430"/>
              <a:ext cx="131925" cy="350687"/>
            </a:xfrm>
            <a:prstGeom prst="rect">
              <a:avLst/>
            </a:prstGeom>
            <a:solidFill>
              <a:schemeClr val="accent2">
                <a:lumMod val="75000"/>
              </a:schemeClr>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p>
          </p:txBody>
        </p:sp>
        <p:sp>
          <p:nvSpPr>
            <p:cNvPr id="32" name="Rectangle 31"/>
            <p:cNvSpPr/>
            <p:nvPr/>
          </p:nvSpPr>
          <p:spPr>
            <a:xfrm>
              <a:off x="3956604" y="2446662"/>
              <a:ext cx="131925" cy="350687"/>
            </a:xfrm>
            <a:prstGeom prst="rect">
              <a:avLst/>
            </a:prstGeom>
            <a:solidFill>
              <a:schemeClr val="accent2">
                <a:lumMod val="75000"/>
              </a:schemeClr>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p>
          </p:txBody>
        </p:sp>
        <p:sp>
          <p:nvSpPr>
            <p:cNvPr id="33" name="Rectangle 32"/>
            <p:cNvSpPr/>
            <p:nvPr/>
          </p:nvSpPr>
          <p:spPr>
            <a:xfrm>
              <a:off x="4944781" y="2447956"/>
              <a:ext cx="131925" cy="350687"/>
            </a:xfrm>
            <a:prstGeom prst="rect">
              <a:avLst/>
            </a:prstGeom>
            <a:solidFill>
              <a:schemeClr val="accent2">
                <a:lumMod val="75000"/>
              </a:schemeClr>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p>
          </p:txBody>
        </p:sp>
        <p:sp>
          <p:nvSpPr>
            <p:cNvPr id="34" name="Rectangle 33"/>
            <p:cNvSpPr/>
            <p:nvPr/>
          </p:nvSpPr>
          <p:spPr>
            <a:xfrm>
              <a:off x="5924402" y="2446430"/>
              <a:ext cx="131925" cy="350687"/>
            </a:xfrm>
            <a:prstGeom prst="rect">
              <a:avLst/>
            </a:prstGeom>
            <a:solidFill>
              <a:schemeClr val="accent2">
                <a:lumMod val="75000"/>
              </a:schemeClr>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p>
          </p:txBody>
        </p:sp>
        <p:sp>
          <p:nvSpPr>
            <p:cNvPr id="35" name="Rectangle 34"/>
            <p:cNvSpPr/>
            <p:nvPr/>
          </p:nvSpPr>
          <p:spPr>
            <a:xfrm>
              <a:off x="6904023" y="2446430"/>
              <a:ext cx="131925" cy="350687"/>
            </a:xfrm>
            <a:prstGeom prst="rect">
              <a:avLst/>
            </a:prstGeom>
            <a:solidFill>
              <a:schemeClr val="accent2">
                <a:lumMod val="75000"/>
              </a:schemeClr>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p>
          </p:txBody>
        </p:sp>
        <p:sp>
          <p:nvSpPr>
            <p:cNvPr id="36" name="Rectangle 35"/>
            <p:cNvSpPr/>
            <p:nvPr/>
          </p:nvSpPr>
          <p:spPr>
            <a:xfrm>
              <a:off x="7881780" y="2446430"/>
              <a:ext cx="131925" cy="350687"/>
            </a:xfrm>
            <a:prstGeom prst="rect">
              <a:avLst/>
            </a:prstGeom>
            <a:solidFill>
              <a:schemeClr val="accent2">
                <a:lumMod val="75000"/>
              </a:schemeClr>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p>
          </p:txBody>
        </p:sp>
        <p:sp>
          <p:nvSpPr>
            <p:cNvPr id="37" name="Rectangle 36"/>
            <p:cNvSpPr/>
            <p:nvPr/>
          </p:nvSpPr>
          <p:spPr>
            <a:xfrm>
              <a:off x="8846453" y="2447956"/>
              <a:ext cx="131925" cy="350687"/>
            </a:xfrm>
            <a:prstGeom prst="rect">
              <a:avLst/>
            </a:prstGeom>
            <a:solidFill>
              <a:schemeClr val="accent2">
                <a:lumMod val="75000"/>
              </a:schemeClr>
            </a:solidFill>
            <a:ln>
              <a:solidFill>
                <a:srgbClr val="8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p>
          </p:txBody>
        </p:sp>
        <p:cxnSp>
          <p:nvCxnSpPr>
            <p:cNvPr id="40" name="Straight Connector 39"/>
            <p:cNvCxnSpPr/>
            <p:nvPr/>
          </p:nvCxnSpPr>
          <p:spPr>
            <a:xfrm>
              <a:off x="1142499" y="3039310"/>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a:off x="2127625" y="3042129"/>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a:off x="3105857" y="3037965"/>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a:off x="4098010" y="3037965"/>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5092071" y="3037965"/>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Straight Connector 44"/>
            <p:cNvCxnSpPr/>
            <p:nvPr/>
          </p:nvCxnSpPr>
          <p:spPr>
            <a:xfrm>
              <a:off x="6065730" y="3045824"/>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Straight Connector 45"/>
            <p:cNvCxnSpPr/>
            <p:nvPr/>
          </p:nvCxnSpPr>
          <p:spPr>
            <a:xfrm>
              <a:off x="6910363" y="3039828"/>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a:off x="7877533" y="3037836"/>
              <a:ext cx="0" cy="108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Straight Connector 47"/>
            <p:cNvCxnSpPr/>
            <p:nvPr/>
          </p:nvCxnSpPr>
          <p:spPr>
            <a:xfrm>
              <a:off x="8843762" y="3031472"/>
              <a:ext cx="0" cy="108668"/>
            </a:xfrm>
            <a:prstGeom prst="line">
              <a:avLst/>
            </a:prstGeom>
          </p:spPr>
          <p:style>
            <a:lnRef idx="2">
              <a:schemeClr val="accent1"/>
            </a:lnRef>
            <a:fillRef idx="0">
              <a:schemeClr val="accent1"/>
            </a:fillRef>
            <a:effectRef idx="1">
              <a:schemeClr val="accent1"/>
            </a:effectRef>
            <a:fontRef idx="minor">
              <a:schemeClr val="tx1"/>
            </a:fontRef>
          </p:style>
        </p:cxnSp>
      </p:grpSp>
      <p:sp>
        <p:nvSpPr>
          <p:cNvPr id="54" name="TextBox 53"/>
          <p:cNvSpPr txBox="1"/>
          <p:nvPr/>
        </p:nvSpPr>
        <p:spPr>
          <a:xfrm>
            <a:off x="5988892" y="3508822"/>
            <a:ext cx="3073827" cy="369332"/>
          </a:xfrm>
          <a:prstGeom prst="rect">
            <a:avLst/>
          </a:prstGeom>
          <a:noFill/>
        </p:spPr>
        <p:txBody>
          <a:bodyPr wrap="square" rtlCol="0">
            <a:spAutoFit/>
          </a:bodyPr>
          <a:lstStyle/>
          <a:p>
            <a:r>
              <a:rPr lang="en-US" dirty="0"/>
              <a:t>movie order fully randomized</a:t>
            </a:r>
          </a:p>
        </p:txBody>
      </p:sp>
      <p:graphicFrame>
        <p:nvGraphicFramePr>
          <p:cNvPr id="56" name="Table 55"/>
          <p:cNvGraphicFramePr>
            <a:graphicFrameLocks noGrp="1"/>
          </p:cNvGraphicFramePr>
          <p:nvPr>
            <p:extLst>
              <p:ext uri="{D42A27DB-BD31-4B8C-83A1-F6EECF244321}">
                <p14:modId xmlns:p14="http://schemas.microsoft.com/office/powerpoint/2010/main" val="2152420064"/>
              </p:ext>
            </p:extLst>
          </p:nvPr>
        </p:nvGraphicFramePr>
        <p:xfrm>
          <a:off x="176022" y="4338177"/>
          <a:ext cx="6096000" cy="1995498"/>
        </p:xfrm>
        <a:graphic>
          <a:graphicData uri="http://schemas.openxmlformats.org/drawingml/2006/table">
            <a:tbl>
              <a:tblPr firstRow="1" bandRow="1">
                <a:tableStyleId>{5C22544A-7EE6-4342-B048-85BDC9FD1C3A}</a:tableStyleId>
              </a:tblPr>
              <a:tblGrid>
                <a:gridCol w="1837642">
                  <a:extLst>
                    <a:ext uri="{9D8B030D-6E8A-4147-A177-3AD203B41FA5}">
                      <a16:colId xmlns:a16="http://schemas.microsoft.com/office/drawing/2014/main" val="20000"/>
                    </a:ext>
                  </a:extLst>
                </a:gridCol>
                <a:gridCol w="3016319">
                  <a:extLst>
                    <a:ext uri="{9D8B030D-6E8A-4147-A177-3AD203B41FA5}">
                      <a16:colId xmlns:a16="http://schemas.microsoft.com/office/drawing/2014/main" val="20001"/>
                    </a:ext>
                  </a:extLst>
                </a:gridCol>
                <a:gridCol w="1242039">
                  <a:extLst>
                    <a:ext uri="{9D8B030D-6E8A-4147-A177-3AD203B41FA5}">
                      <a16:colId xmlns:a16="http://schemas.microsoft.com/office/drawing/2014/main" val="20002"/>
                    </a:ext>
                  </a:extLst>
                </a:gridCol>
              </a:tblGrid>
              <a:tr h="263985">
                <a:tc>
                  <a:txBody>
                    <a:bodyPr/>
                    <a:lstStyle/>
                    <a:p>
                      <a:r>
                        <a:rPr lang="en-US" sz="1100" dirty="0"/>
                        <a:t>movie clip name</a:t>
                      </a:r>
                    </a:p>
                  </a:txBody>
                  <a:tcPr/>
                </a:tc>
                <a:tc>
                  <a:txBody>
                    <a:bodyPr/>
                    <a:lstStyle/>
                    <a:p>
                      <a:r>
                        <a:rPr lang="en-US" sz="1100" dirty="0"/>
                        <a:t>content</a:t>
                      </a:r>
                    </a:p>
                  </a:txBody>
                  <a:tcPr/>
                </a:tc>
                <a:tc>
                  <a:txBody>
                    <a:bodyPr/>
                    <a:lstStyle/>
                    <a:p>
                      <a:r>
                        <a:rPr lang="en-US" sz="1100" dirty="0"/>
                        <a:t>category</a:t>
                      </a:r>
                    </a:p>
                  </a:txBody>
                  <a:tcPr/>
                </a:tc>
                <a:extLst>
                  <a:ext uri="{0D108BD9-81ED-4DB2-BD59-A6C34878D82A}">
                    <a16:rowId xmlns:a16="http://schemas.microsoft.com/office/drawing/2014/main" val="10000"/>
                  </a:ext>
                </a:extLst>
              </a:tr>
              <a:tr h="263985">
                <a:tc>
                  <a:txBody>
                    <a:bodyPr/>
                    <a:lstStyle/>
                    <a:p>
                      <a:r>
                        <a:rPr lang="en-US" sz="1100" dirty="0"/>
                        <a:t>Clip_256_2min.avi</a:t>
                      </a:r>
                    </a:p>
                  </a:txBody>
                  <a:tcPr/>
                </a:tc>
                <a:tc>
                  <a:txBody>
                    <a:bodyPr/>
                    <a:lstStyle/>
                    <a:p>
                      <a:r>
                        <a:rPr lang="en-US" sz="1100" dirty="0"/>
                        <a:t>documentary about </a:t>
                      </a:r>
                      <a:r>
                        <a:rPr lang="en-US" sz="1100" dirty="0" err="1"/>
                        <a:t>african</a:t>
                      </a:r>
                      <a:r>
                        <a:rPr lang="en-US" sz="1100" dirty="0"/>
                        <a:t> albinos</a:t>
                      </a:r>
                    </a:p>
                  </a:txBody>
                  <a:tcPr/>
                </a:tc>
                <a:tc>
                  <a:txBody>
                    <a:bodyPr/>
                    <a:lstStyle/>
                    <a:p>
                      <a:r>
                        <a:rPr lang="en-US" sz="1100" dirty="0"/>
                        <a:t>loss</a:t>
                      </a:r>
                    </a:p>
                  </a:txBody>
                  <a:tcPr/>
                </a:tc>
                <a:extLst>
                  <a:ext uri="{0D108BD9-81ED-4DB2-BD59-A6C34878D82A}">
                    <a16:rowId xmlns:a16="http://schemas.microsoft.com/office/drawing/2014/main" val="10001"/>
                  </a:ext>
                </a:extLst>
              </a:tr>
              <a:tr h="263985">
                <a:tc>
                  <a:txBody>
                    <a:bodyPr/>
                    <a:lstStyle/>
                    <a:p>
                      <a:r>
                        <a:rPr lang="en-US" sz="1100" dirty="0"/>
                        <a:t>Chemical_Warfare_2min.avi </a:t>
                      </a:r>
                    </a:p>
                  </a:txBody>
                  <a:tcPr/>
                </a:tc>
                <a:tc>
                  <a:txBody>
                    <a:bodyPr/>
                    <a:lstStyle/>
                    <a:p>
                      <a:r>
                        <a:rPr lang="en-US" sz="1100" dirty="0"/>
                        <a:t>documentary about Syrian chemical</a:t>
                      </a:r>
                      <a:r>
                        <a:rPr lang="en-US" sz="1100" baseline="0" dirty="0"/>
                        <a:t> attack</a:t>
                      </a:r>
                      <a:endParaRPr lang="en-US" sz="1100" dirty="0"/>
                    </a:p>
                  </a:txBody>
                  <a:tcPr/>
                </a:tc>
                <a:tc>
                  <a:txBody>
                    <a:bodyPr/>
                    <a:lstStyle/>
                    <a:p>
                      <a:r>
                        <a:rPr lang="en-US" sz="1100" dirty="0"/>
                        <a:t>loss</a:t>
                      </a:r>
                    </a:p>
                  </a:txBody>
                  <a:tcPr/>
                </a:tc>
                <a:extLst>
                  <a:ext uri="{0D108BD9-81ED-4DB2-BD59-A6C34878D82A}">
                    <a16:rowId xmlns:a16="http://schemas.microsoft.com/office/drawing/2014/main" val="10002"/>
                  </a:ext>
                </a:extLst>
              </a:tr>
              <a:tr h="263985">
                <a:tc>
                  <a:txBody>
                    <a:bodyPr/>
                    <a:lstStyle/>
                    <a:p>
                      <a:r>
                        <a:rPr lang="en-US" sz="1100" dirty="0"/>
                        <a:t>Spiderbite2.avi</a:t>
                      </a:r>
                    </a:p>
                  </a:txBody>
                  <a:tcPr/>
                </a:tc>
                <a:tc>
                  <a:txBody>
                    <a:bodyPr/>
                    <a:lstStyle/>
                    <a:p>
                      <a:r>
                        <a:rPr lang="en-US" sz="1100" dirty="0"/>
                        <a:t>spider bite abscess extraction</a:t>
                      </a:r>
                    </a:p>
                  </a:txBody>
                  <a:tcPr/>
                </a:tc>
                <a:tc>
                  <a:txBody>
                    <a:bodyPr/>
                    <a:lstStyle/>
                    <a:p>
                      <a:r>
                        <a:rPr lang="en-US" sz="1100" dirty="0"/>
                        <a:t>disgust</a:t>
                      </a:r>
                    </a:p>
                  </a:txBody>
                  <a:tcPr/>
                </a:tc>
                <a:extLst>
                  <a:ext uri="{0D108BD9-81ED-4DB2-BD59-A6C34878D82A}">
                    <a16:rowId xmlns:a16="http://schemas.microsoft.com/office/drawing/2014/main" val="10003"/>
                  </a:ext>
                </a:extLst>
              </a:tr>
              <a:tr h="26398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100" dirty="0"/>
                        <a:t>Clip_156_1.avi</a:t>
                      </a:r>
                    </a:p>
                  </a:txBody>
                  <a:tcPr/>
                </a:tc>
                <a:tc>
                  <a:txBody>
                    <a:bodyPr/>
                    <a:lstStyle/>
                    <a:p>
                      <a:r>
                        <a:rPr lang="en-US" sz="1100" dirty="0"/>
                        <a:t>Jack ass clip, wasabi</a:t>
                      </a:r>
                      <a:r>
                        <a:rPr lang="en-US" sz="1100" baseline="0" dirty="0"/>
                        <a:t> </a:t>
                      </a:r>
                      <a:r>
                        <a:rPr lang="en-US" sz="1100" baseline="0" dirty="0" err="1"/>
                        <a:t>snooters</a:t>
                      </a:r>
                      <a:endParaRPr lang="en-US" sz="1100" dirty="0"/>
                    </a:p>
                  </a:txBody>
                  <a:tcPr/>
                </a:tc>
                <a:tc>
                  <a:txBody>
                    <a:bodyPr/>
                    <a:lstStyle/>
                    <a:p>
                      <a:r>
                        <a:rPr lang="en-US" sz="1100" dirty="0"/>
                        <a:t>disgust</a:t>
                      </a:r>
                    </a:p>
                  </a:txBody>
                  <a:tcPr/>
                </a:tc>
                <a:extLst>
                  <a:ext uri="{0D108BD9-81ED-4DB2-BD59-A6C34878D82A}">
                    <a16:rowId xmlns:a16="http://schemas.microsoft.com/office/drawing/2014/main" val="10004"/>
                  </a:ext>
                </a:extLst>
              </a:tr>
              <a:tr h="26398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100" dirty="0"/>
                        <a:t>Clip_336.avi </a:t>
                      </a:r>
                    </a:p>
                  </a:txBody>
                  <a:tcPr/>
                </a:tc>
                <a:tc>
                  <a:txBody>
                    <a:bodyPr/>
                    <a:lstStyle/>
                    <a:p>
                      <a:r>
                        <a:rPr lang="en-US" sz="1100" dirty="0"/>
                        <a:t>report</a:t>
                      </a:r>
                      <a:r>
                        <a:rPr lang="en-US" sz="1100" baseline="0" dirty="0"/>
                        <a:t> about an unjustified police attack</a:t>
                      </a:r>
                      <a:endParaRPr lang="en-US" sz="1100" dirty="0"/>
                    </a:p>
                  </a:txBody>
                  <a:tcPr/>
                </a:tc>
                <a:tc>
                  <a:txBody>
                    <a:bodyPr/>
                    <a:lstStyle/>
                    <a:p>
                      <a:r>
                        <a:rPr lang="en-US" sz="1100" dirty="0"/>
                        <a:t>anger</a:t>
                      </a:r>
                    </a:p>
                  </a:txBody>
                  <a:tcPr/>
                </a:tc>
                <a:extLst>
                  <a:ext uri="{0D108BD9-81ED-4DB2-BD59-A6C34878D82A}">
                    <a16:rowId xmlns:a16="http://schemas.microsoft.com/office/drawing/2014/main" val="10005"/>
                  </a:ext>
                </a:extLst>
              </a:tr>
              <a:tr h="411588">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100" dirty="0"/>
                        <a:t>Clip_371_2min.avi</a:t>
                      </a:r>
                    </a:p>
                  </a:txBody>
                  <a:tcPr/>
                </a:tc>
                <a:tc>
                  <a:txBody>
                    <a:bodyPr/>
                    <a:lstStyle/>
                    <a:p>
                      <a:r>
                        <a:rPr lang="en-US" sz="1100" dirty="0"/>
                        <a:t>documentary about LA street kids gang</a:t>
                      </a:r>
                    </a:p>
                  </a:txBody>
                  <a:tcPr/>
                </a:tc>
                <a:tc>
                  <a:txBody>
                    <a:bodyPr/>
                    <a:lstStyle/>
                    <a:p>
                      <a:r>
                        <a:rPr lang="en-US" sz="1100" dirty="0"/>
                        <a:t>anger</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446536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Emotional Movie Task:</a:t>
            </a:r>
            <a:br>
              <a:rPr lang="en-US" dirty="0"/>
            </a:br>
            <a:r>
              <a:rPr lang="en-US" dirty="0"/>
              <a:t>Post scanner Task</a:t>
            </a:r>
          </a:p>
        </p:txBody>
      </p:sp>
      <p:sp>
        <p:nvSpPr>
          <p:cNvPr id="3" name="Content Placeholder 2"/>
          <p:cNvSpPr>
            <a:spLocks noGrp="1"/>
          </p:cNvSpPr>
          <p:nvPr>
            <p:ph idx="1"/>
          </p:nvPr>
        </p:nvSpPr>
        <p:spPr/>
        <p:txBody>
          <a:bodyPr>
            <a:normAutofit/>
          </a:bodyPr>
          <a:lstStyle/>
          <a:p>
            <a:r>
              <a:rPr lang="en-US" dirty="0"/>
              <a:t>participants watched the movies again and rated the clips continuously while watching</a:t>
            </a:r>
          </a:p>
          <a:p>
            <a:pPr marL="0" indent="0">
              <a:buNone/>
            </a:pPr>
            <a:r>
              <a:rPr lang="en-US" dirty="0"/>
              <a:t>“How negative or positive did you feel when you saw this the first time?”</a:t>
            </a:r>
          </a:p>
          <a:p>
            <a:pPr marL="0" indent="0">
              <a:buNone/>
            </a:pPr>
            <a:r>
              <a:rPr lang="en-US" dirty="0"/>
              <a:t>	negative -------- neutral --------- positive</a:t>
            </a:r>
          </a:p>
          <a:p>
            <a:r>
              <a:rPr lang="en-US" dirty="0"/>
              <a:t>after each clip rate for actual emotions:</a:t>
            </a:r>
          </a:p>
        </p:txBody>
      </p:sp>
      <p:graphicFrame>
        <p:nvGraphicFramePr>
          <p:cNvPr id="4" name="Table 3"/>
          <p:cNvGraphicFramePr>
            <a:graphicFrameLocks noGrp="1"/>
          </p:cNvGraphicFramePr>
          <p:nvPr>
            <p:extLst>
              <p:ext uri="{D42A27DB-BD31-4B8C-83A1-F6EECF244321}">
                <p14:modId xmlns:p14="http://schemas.microsoft.com/office/powerpoint/2010/main" val="4255110747"/>
              </p:ext>
            </p:extLst>
          </p:nvPr>
        </p:nvGraphicFramePr>
        <p:xfrm>
          <a:off x="1107440" y="5003800"/>
          <a:ext cx="6096000" cy="1483360"/>
        </p:xfrm>
        <a:graphic>
          <a:graphicData uri="http://schemas.openxmlformats.org/drawingml/2006/table">
            <a:tbl>
              <a:tblPr>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en-US" dirty="0"/>
                        <a:t>angry</a:t>
                      </a:r>
                    </a:p>
                  </a:txBody>
                  <a:tcPr/>
                </a:tc>
                <a:tc>
                  <a:txBody>
                    <a:bodyPr/>
                    <a:lstStyle/>
                    <a:p>
                      <a:pPr algn="ctr"/>
                      <a:r>
                        <a:rPr lang="en-US" dirty="0"/>
                        <a:t>suspicious</a:t>
                      </a:r>
                    </a:p>
                  </a:txBody>
                  <a:tcPr/>
                </a:tc>
                <a:tc>
                  <a:txBody>
                    <a:bodyPr/>
                    <a:lstStyle/>
                    <a:p>
                      <a:pPr algn="ctr"/>
                      <a:r>
                        <a:rPr lang="en-US" dirty="0"/>
                        <a:t>sad</a:t>
                      </a:r>
                    </a:p>
                  </a:txBody>
                  <a:tcPr/>
                </a:tc>
                <a:extLst>
                  <a:ext uri="{0D108BD9-81ED-4DB2-BD59-A6C34878D82A}">
                    <a16:rowId xmlns:a16="http://schemas.microsoft.com/office/drawing/2014/main" val="10000"/>
                  </a:ext>
                </a:extLst>
              </a:tr>
              <a:tr h="370840">
                <a:tc>
                  <a:txBody>
                    <a:bodyPr/>
                    <a:lstStyle/>
                    <a:p>
                      <a:pPr algn="ctr"/>
                      <a:r>
                        <a:rPr lang="en-US" dirty="0"/>
                        <a:t>pleased</a:t>
                      </a:r>
                    </a:p>
                  </a:txBody>
                  <a:tcPr/>
                </a:tc>
                <a:tc>
                  <a:txBody>
                    <a:bodyPr/>
                    <a:lstStyle/>
                    <a:p>
                      <a:pPr algn="ctr"/>
                      <a:r>
                        <a:rPr lang="en-US" dirty="0"/>
                        <a:t>engaged</a:t>
                      </a:r>
                    </a:p>
                  </a:txBody>
                  <a:tcPr/>
                </a:tc>
                <a:tc>
                  <a:txBody>
                    <a:bodyPr/>
                    <a:lstStyle/>
                    <a:p>
                      <a:pPr algn="ctr"/>
                      <a:r>
                        <a:rPr lang="en-US" dirty="0"/>
                        <a:t>aroused</a:t>
                      </a:r>
                    </a:p>
                  </a:txBody>
                  <a:tcPr/>
                </a:tc>
                <a:extLst>
                  <a:ext uri="{0D108BD9-81ED-4DB2-BD59-A6C34878D82A}">
                    <a16:rowId xmlns:a16="http://schemas.microsoft.com/office/drawing/2014/main" val="10001"/>
                  </a:ext>
                </a:extLst>
              </a:tr>
              <a:tr h="370840">
                <a:tc>
                  <a:txBody>
                    <a:bodyPr/>
                    <a:lstStyle/>
                    <a:p>
                      <a:pPr algn="ctr"/>
                      <a:r>
                        <a:rPr lang="en-US" dirty="0"/>
                        <a:t>anxious</a:t>
                      </a:r>
                    </a:p>
                  </a:txBody>
                  <a:tcPr/>
                </a:tc>
                <a:tc>
                  <a:txBody>
                    <a:bodyPr/>
                    <a:lstStyle/>
                    <a:p>
                      <a:pPr algn="ctr"/>
                      <a:r>
                        <a:rPr lang="en-US" dirty="0" err="1"/>
                        <a:t>sceptical</a:t>
                      </a:r>
                      <a:endParaRPr lang="en-US" dirty="0"/>
                    </a:p>
                  </a:txBody>
                  <a:tcPr/>
                </a:tc>
                <a:tc>
                  <a:txBody>
                    <a:bodyPr/>
                    <a:lstStyle/>
                    <a:p>
                      <a:pPr algn="ctr"/>
                      <a:r>
                        <a:rPr lang="en-US" dirty="0"/>
                        <a:t>embarrassed</a:t>
                      </a:r>
                    </a:p>
                  </a:txBody>
                  <a:tcPr/>
                </a:tc>
                <a:extLst>
                  <a:ext uri="{0D108BD9-81ED-4DB2-BD59-A6C34878D82A}">
                    <a16:rowId xmlns:a16="http://schemas.microsoft.com/office/drawing/2014/main" val="10002"/>
                  </a:ext>
                </a:extLst>
              </a:tr>
              <a:tr h="370840">
                <a:tc>
                  <a:txBody>
                    <a:bodyPr/>
                    <a:lstStyle/>
                    <a:p>
                      <a:pPr algn="ctr"/>
                      <a:r>
                        <a:rPr lang="en-US" dirty="0"/>
                        <a:t>nervous</a:t>
                      </a:r>
                    </a:p>
                  </a:txBody>
                  <a:tcPr/>
                </a:tc>
                <a:tc>
                  <a:txBody>
                    <a:bodyPr/>
                    <a:lstStyle/>
                    <a:p>
                      <a:pPr algn="ctr"/>
                      <a:r>
                        <a:rPr lang="en-US" dirty="0"/>
                        <a:t>disgusted</a:t>
                      </a:r>
                    </a:p>
                  </a:txBody>
                  <a:tcPr/>
                </a:tc>
                <a:tc>
                  <a:txBody>
                    <a:bodyPr/>
                    <a:lstStyle/>
                    <a:p>
                      <a:pPr algn="ctr"/>
                      <a:r>
                        <a:rPr lang="en-US" dirty="0"/>
                        <a:t>happy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61221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Written description of the Emotional Movies Task</a:t>
            </a:r>
          </a:p>
        </p:txBody>
      </p:sp>
      <p:sp>
        <p:nvSpPr>
          <p:cNvPr id="3" name="Content Placeholder 2"/>
          <p:cNvSpPr>
            <a:spLocks noGrp="1"/>
          </p:cNvSpPr>
          <p:nvPr>
            <p:ph idx="1"/>
          </p:nvPr>
        </p:nvSpPr>
        <p:spPr/>
        <p:txBody>
          <a:bodyPr>
            <a:normAutofit fontScale="40000" lnSpcReduction="20000"/>
          </a:bodyPr>
          <a:lstStyle/>
          <a:p>
            <a:pPr marL="0" indent="0">
              <a:buNone/>
            </a:pPr>
            <a:r>
              <a:rPr lang="en-US" dirty="0"/>
              <a:t>We are presenting six videos with a duration of about 2 min each from the three categories anger (report about juvenile street gangs in LA, report about an assault of an innocent person by police officers), loss (report about chemical attack in Syria, report about albino Africans who are murdered to sell their body parts) and physical disgust (extraction of a spider bite abscess of a person, Jack ass show on inhaling a wasabi-soy sauce mix into the nose). The six videos were selected based on previous ratings and in part shortened to 2min duration. Each video was presented once. The three categories loss, physical disgust and anger were chosen as they are all from the negative emotion spectrum and these different categories might have common processes but could maybe also be differentiated based on neurobiological response. </a:t>
            </a:r>
          </a:p>
          <a:p>
            <a:pPr marL="0" indent="0">
              <a:buNone/>
            </a:pPr>
            <a:r>
              <a:rPr lang="en-US" dirty="0"/>
              <a:t>In addition to brain imaging (with 3T scanner), heart rate (HR), skin conductance (SCR) and pupil dilation response (PR) will be collected throughout the scanning procedure. Resting state scans will be collected before the movies will be presented. DNA will be collected from all consenting participants. </a:t>
            </a:r>
          </a:p>
          <a:p>
            <a:pPr marL="0" indent="0">
              <a:buNone/>
            </a:pPr>
            <a:r>
              <a:rPr lang="en-US" dirty="0"/>
              <a:t>After each video, participants rate their actual mood on a visual analog scale (VAS) from very negative through neutral to very positive. After the scanner session, participants will see the movies again and be asked to rate them continuously during the presentation for the mood (VAS from very negative through neutral to very positive) they are actually provoking from moment to moment. Participants will be asked to refer to what they felt when they first saw the movie in the scanner. In addition, participants rate the movies overall on several emotion categories. During watching the movies outside of the scanner, participants’ faces got recorded via video camera, in order to evaluate their emotional facial expressions.</a:t>
            </a:r>
          </a:p>
          <a:p>
            <a:pPr marL="0" indent="0">
              <a:buNone/>
            </a:pPr>
            <a:r>
              <a:rPr lang="en-US" dirty="0"/>
              <a:t>The goal is to compare the different emotional categories on the different levels, behaviorally, psycho-physiologically and in terms of functional brain activity as well as to link the different response-levels to each other.</a:t>
            </a:r>
          </a:p>
          <a:p>
            <a:pPr marL="0" indent="0">
              <a:buNone/>
            </a:pPr>
            <a:r>
              <a:rPr lang="en-US" dirty="0"/>
              <a:t>Participants also fill in a number of questionnaires, such as Mood and Anxiety Questionnaire (MASQ), Emotion Regulation Questionnaire (ERQ), Kohn Reactivity Scale (KRS), Interpersonal Reactivity Index (IRI), Life Events Questionnaire.</a:t>
            </a:r>
            <a:r>
              <a:rPr lang="en-US" dirty="0">
                <a:effectLst/>
              </a:rPr>
              <a:t> </a:t>
            </a:r>
            <a:endParaRPr lang="en-US" dirty="0"/>
          </a:p>
        </p:txBody>
      </p:sp>
    </p:spTree>
    <p:extLst>
      <p:ext uri="{BB962C8B-B14F-4D97-AF65-F5344CB8AC3E}">
        <p14:creationId xmlns:p14="http://schemas.microsoft.com/office/powerpoint/2010/main" val="35634452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Future plans regarding the emotional movies tasks</a:t>
            </a:r>
          </a:p>
        </p:txBody>
      </p:sp>
      <p:sp>
        <p:nvSpPr>
          <p:cNvPr id="3" name="Content Placeholder 2"/>
          <p:cNvSpPr>
            <a:spLocks noGrp="1"/>
          </p:cNvSpPr>
          <p:nvPr>
            <p:ph idx="1"/>
          </p:nvPr>
        </p:nvSpPr>
        <p:spPr>
          <a:xfrm>
            <a:off x="457200" y="1818640"/>
            <a:ext cx="8229600" cy="4307523"/>
          </a:xfrm>
        </p:spPr>
        <p:txBody>
          <a:bodyPr/>
          <a:lstStyle/>
          <a:p>
            <a:r>
              <a:rPr lang="en-US" dirty="0"/>
              <a:t>apply the 5 emotion maps from the meta analysis to the BMRK5 data</a:t>
            </a:r>
          </a:p>
          <a:p>
            <a:r>
              <a:rPr lang="en-US" dirty="0"/>
              <a:t>train new predictive algorithms for negative affect overall and for the different types of negative affect (loss, disgust and anger)</a:t>
            </a:r>
          </a:p>
          <a:p>
            <a:r>
              <a:rPr lang="en-US" dirty="0"/>
              <a:t>test prediction of emotional facial expressions by different pattern</a:t>
            </a:r>
            <a:br>
              <a:rPr lang="en-US" dirty="0"/>
            </a:br>
            <a:endParaRPr lang="en-US" dirty="0"/>
          </a:p>
        </p:txBody>
      </p:sp>
    </p:spTree>
    <p:extLst>
      <p:ext uri="{BB962C8B-B14F-4D97-AF65-F5344CB8AC3E}">
        <p14:creationId xmlns:p14="http://schemas.microsoft.com/office/powerpoint/2010/main" val="23285025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106</TotalTime>
  <Words>1799</Words>
  <Application>Microsoft Macintosh PowerPoint</Application>
  <PresentationFormat>On-screen Show (4:3)</PresentationFormat>
  <Paragraphs>340</Paragraphs>
  <Slides>21</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Candara</vt:lpstr>
      <vt:lpstr>Helvetica</vt:lpstr>
      <vt:lpstr>Wingdings</vt:lpstr>
      <vt:lpstr>Office Theme</vt:lpstr>
      <vt:lpstr>BMRK5 study description</vt:lpstr>
      <vt:lpstr>Study Overview</vt:lpstr>
      <vt:lpstr>Questionnaire measures</vt:lpstr>
      <vt:lpstr>Sample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Pain Sound Task Overview</vt:lpstr>
      <vt:lpstr>Pain Sound Task: Condition Details</vt:lpstr>
      <vt:lpstr>Pain Sound Task Structure</vt:lpstr>
      <vt:lpstr>Pain Sound Task Written Description</vt:lpstr>
      <vt:lpstr>Pain Modulation Tasks (1)</vt:lpstr>
      <vt:lpstr>Pain Modulation Tasks (2)</vt:lpstr>
      <vt:lpstr>Emotional Movies Task:  In scanner part</vt:lpstr>
      <vt:lpstr>Emotional Movie Task: Post scanner Task</vt:lpstr>
      <vt:lpstr>Written description of the Emotional Movies Task</vt:lpstr>
      <vt:lpstr>Future plans regarding the emotional movies tasks</vt:lpstr>
    </vt:vector>
  </TitlesOfParts>
  <Company/>
  <LinksUpToDate>false</LinksUpToDate>
  <SharedDoc>false</SharedDoc>
  <HyperlinksChanged>false</HyperlinksChanged>
  <AppVersion>16.0013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BMRK5 study description</dc:title>
  <dc:creator>Hedwig</dc:creator>
  <cp:lastModifiedBy>Tor Dessart Wager</cp:lastModifiedBy>
  <cp:revision>21</cp:revision>
  <dcterms:created xsi:type="dcterms:W3CDTF">2015-02-24T09:13:29Z</dcterms:created>
  <dcterms:modified xsi:type="dcterms:W3CDTF">2018-06-01T13:40:10Z</dcterms:modified>
</cp:coreProperties>
</file>